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4"/>
    <p:sldMasterId id="2147483662" r:id="rId5"/>
    <p:sldMasterId id="214748366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7479ac37e_0_6:notes"/>
          <p:cNvSpPr txBox="1"/>
          <p:nvPr>
            <p:ph idx="1" type="body"/>
          </p:nvPr>
        </p:nvSpPr>
        <p:spPr>
          <a:xfrm>
            <a:off x="686567" y="4401097"/>
            <a:ext cx="5486400" cy="3599700"/>
          </a:xfrm>
          <a:prstGeom prst="rect">
            <a:avLst/>
          </a:prstGeom>
        </p:spPr>
        <p:txBody>
          <a:bodyPr anchorCtr="0" anchor="t" bIns="86075" lIns="86075" spcFirstLastPara="1" rIns="86075" wrap="square" tIns="8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d7479ac37e_0_6:notes"/>
          <p:cNvSpPr/>
          <p:nvPr>
            <p:ph idx="2" type="sldImg"/>
          </p:nvPr>
        </p:nvSpPr>
        <p:spPr>
          <a:xfrm>
            <a:off x="465964" y="1143179"/>
            <a:ext cx="59274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7479ac37e_0_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d7479ac37e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d7479ac37e_0_17:notes"/>
          <p:cNvSpPr txBox="1"/>
          <p:nvPr>
            <p:ph idx="1" type="body"/>
          </p:nvPr>
        </p:nvSpPr>
        <p:spPr>
          <a:xfrm>
            <a:off x="686567" y="4401097"/>
            <a:ext cx="5486400" cy="3599700"/>
          </a:xfrm>
          <a:prstGeom prst="rect">
            <a:avLst/>
          </a:prstGeom>
        </p:spPr>
        <p:txBody>
          <a:bodyPr anchorCtr="0" anchor="t" bIns="86075" lIns="86075" spcFirstLastPara="1" rIns="86075" wrap="square" tIns="8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d7479ac37e_0_17:notes"/>
          <p:cNvSpPr/>
          <p:nvPr>
            <p:ph idx="2" type="sldImg"/>
          </p:nvPr>
        </p:nvSpPr>
        <p:spPr>
          <a:xfrm>
            <a:off x="465964" y="1143179"/>
            <a:ext cx="59274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自定义版式">
  <p:cSld name="自定义版式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自定义版式">
  <p:cSld name="自定义版式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707553" y="652508"/>
            <a:ext cx="10515300" cy="7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2.xml"/><Relationship Id="rId3" Type="http://schemas.openxmlformats.org/officeDocument/2006/relationships/theme" Target="../theme/theme4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707550" y="1116700"/>
            <a:ext cx="10515300" cy="383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20 + Team Solomid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Keith So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Resona -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 phone-based, two-minute wellness check-in for teams at work.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31A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/>
        </p:nvSpPr>
        <p:spPr>
          <a:xfrm>
            <a:off x="685800" y="3200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9A96E"/>
                </a:solidFill>
                <a:latin typeface="Arial"/>
                <a:ea typeface="Arial"/>
                <a:cs typeface="Arial"/>
                <a:sym typeface="Arial"/>
              </a:rPr>
              <a:t>CASE 01 · HOOK</a:t>
            </a:r>
            <a:endParaRPr/>
          </a:p>
        </p:txBody>
      </p:sp>
      <p:sp>
        <p:nvSpPr>
          <p:cNvPr id="99" name="Google Shape;99;p19"/>
          <p:cNvSpPr txBox="1"/>
          <p:nvPr/>
        </p:nvSpPr>
        <p:spPr>
          <a:xfrm>
            <a:off x="7848295" y="320040"/>
            <a:ext cx="3657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4EC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Resona   </a:t>
            </a:r>
            <a:r>
              <a:rPr b="1" lang="en-US" sz="1000">
                <a:solidFill>
                  <a:srgbClr val="8A8272"/>
                </a:solidFill>
                <a:latin typeface="Arial"/>
                <a:ea typeface="Arial"/>
                <a:cs typeface="Arial"/>
                <a:sym typeface="Arial"/>
              </a:rPr>
              <a:t>01 / 0</a:t>
            </a:r>
            <a:r>
              <a:rPr b="1" lang="en-US" sz="1000">
                <a:solidFill>
                  <a:srgbClr val="8A8272"/>
                </a:solidFill>
              </a:rPr>
              <a:t>4</a:t>
            </a:r>
            <a:endParaRPr/>
          </a:p>
        </p:txBody>
      </p:sp>
      <p:sp>
        <p:nvSpPr>
          <p:cNvPr id="100" name="Google Shape;100;p19"/>
          <p:cNvSpPr/>
          <p:nvPr/>
        </p:nvSpPr>
        <p:spPr>
          <a:xfrm>
            <a:off x="685800" y="685800"/>
            <a:ext cx="10820095" cy="9525"/>
          </a:xfrm>
          <a:prstGeom prst="rect">
            <a:avLst/>
          </a:prstGeom>
          <a:solidFill>
            <a:srgbClr val="8A82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9"/>
          <p:cNvSpPr txBox="1"/>
          <p:nvPr/>
        </p:nvSpPr>
        <p:spPr>
          <a:xfrm>
            <a:off x="685800" y="1188720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C9A96E"/>
                </a:solidFill>
                <a:latin typeface="Arial"/>
                <a:ea typeface="Arial"/>
                <a:cs typeface="Arial"/>
                <a:sym typeface="Arial"/>
              </a:rPr>
              <a:t>THE NUMBER YOU CANNOT SIT WITH</a:t>
            </a:r>
            <a:endParaRPr/>
          </a:p>
        </p:txBody>
      </p:sp>
      <p:sp>
        <p:nvSpPr>
          <p:cNvPr id="102" name="Google Shape;102;p19"/>
          <p:cNvSpPr txBox="1"/>
          <p:nvPr/>
        </p:nvSpPr>
        <p:spPr>
          <a:xfrm>
            <a:off x="685800" y="1600200"/>
            <a:ext cx="5669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E4D9C4"/>
                </a:solidFill>
                <a:latin typeface="Arial"/>
                <a:ea typeface="Arial"/>
                <a:cs typeface="Arial"/>
                <a:sym typeface="Arial"/>
              </a:rPr>
              <a:t>The average UK knowledge worker now spends</a:t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685763" y="2194570"/>
            <a:ext cx="5669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000">
                <a:solidFill>
                  <a:srgbClr val="F4EC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9.5</a:t>
            </a:r>
            <a:endParaRPr sz="5000"/>
          </a:p>
        </p:txBody>
      </p:sp>
      <p:sp>
        <p:nvSpPr>
          <p:cNvPr id="104" name="Google Shape;104;p19"/>
          <p:cNvSpPr txBox="1"/>
          <p:nvPr/>
        </p:nvSpPr>
        <p:spPr>
          <a:xfrm>
            <a:off x="685825" y="2964080"/>
            <a:ext cx="5669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C9A96E"/>
                </a:solidFill>
                <a:latin typeface="Arial"/>
                <a:ea typeface="Arial"/>
                <a:cs typeface="Arial"/>
                <a:sym typeface="Arial"/>
              </a:rPr>
              <a:t>HOURS PER DAY</a:t>
            </a:r>
            <a:endParaRPr/>
          </a:p>
        </p:txBody>
      </p:sp>
      <p:sp>
        <p:nvSpPr>
          <p:cNvPr id="105" name="Google Shape;105;p19"/>
          <p:cNvSpPr txBox="1"/>
          <p:nvPr/>
        </p:nvSpPr>
        <p:spPr>
          <a:xfrm>
            <a:off x="685825" y="3329840"/>
            <a:ext cx="5669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E4D9C4"/>
                </a:solidFill>
                <a:latin typeface="Arial"/>
                <a:ea typeface="Arial"/>
                <a:cs typeface="Arial"/>
                <a:sym typeface="Arial"/>
              </a:rPr>
              <a:t>sitting at a desk.</a:t>
            </a:r>
            <a:endParaRPr/>
          </a:p>
        </p:txBody>
      </p:sp>
      <p:sp>
        <p:nvSpPr>
          <p:cNvPr id="106" name="Google Shape;106;p19"/>
          <p:cNvSpPr txBox="1"/>
          <p:nvPr/>
        </p:nvSpPr>
        <p:spPr>
          <a:xfrm>
            <a:off x="685700" y="3832755"/>
            <a:ext cx="5669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100">
                <a:solidFill>
                  <a:srgbClr val="E6C6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than they sleep.</a:t>
            </a:r>
            <a:endParaRPr sz="700"/>
          </a:p>
        </p:txBody>
      </p:sp>
      <p:sp>
        <p:nvSpPr>
          <p:cNvPr id="107" name="Google Shape;107;p19"/>
          <p:cNvSpPr/>
          <p:nvPr/>
        </p:nvSpPr>
        <p:spPr>
          <a:xfrm>
            <a:off x="685825" y="3832754"/>
            <a:ext cx="25500" cy="4311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9"/>
          <p:cNvSpPr txBox="1"/>
          <p:nvPr/>
        </p:nvSpPr>
        <p:spPr>
          <a:xfrm>
            <a:off x="6766560" y="1188720"/>
            <a:ext cx="473933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8A8272"/>
                </a:solidFill>
                <a:latin typeface="Arial"/>
                <a:ea typeface="Arial"/>
                <a:cs typeface="Arial"/>
                <a:sym typeface="Arial"/>
              </a:rPr>
              <a:t>A WEEKDAY, SAMPLED</a:t>
            </a:r>
            <a:endParaRPr/>
          </a:p>
        </p:txBody>
      </p:sp>
      <p:sp>
        <p:nvSpPr>
          <p:cNvPr id="109" name="Google Shape;109;p19"/>
          <p:cNvSpPr/>
          <p:nvPr/>
        </p:nvSpPr>
        <p:spPr>
          <a:xfrm>
            <a:off x="6766560" y="1600200"/>
            <a:ext cx="1265402" cy="640080"/>
          </a:xfrm>
          <a:prstGeom prst="rect">
            <a:avLst/>
          </a:prstGeom>
          <a:solidFill>
            <a:srgbClr val="242732"/>
          </a:solidFill>
          <a:ln cap="flat" cmpd="sng" w="9525">
            <a:solidFill>
              <a:srgbClr val="2427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9"/>
          <p:cNvSpPr txBox="1"/>
          <p:nvPr/>
        </p:nvSpPr>
        <p:spPr>
          <a:xfrm>
            <a:off x="6858000" y="1783080"/>
            <a:ext cx="108252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B8AC94"/>
                </a:solidFill>
                <a:latin typeface="Arial"/>
                <a:ea typeface="Arial"/>
                <a:cs typeface="Arial"/>
                <a:sym typeface="Arial"/>
              </a:rPr>
              <a:t>SLEEP 8h</a:t>
            </a:r>
            <a:endParaRPr/>
          </a:p>
        </p:txBody>
      </p:sp>
      <p:sp>
        <p:nvSpPr>
          <p:cNvPr id="111" name="Google Shape;111;p19"/>
          <p:cNvSpPr/>
          <p:nvPr/>
        </p:nvSpPr>
        <p:spPr>
          <a:xfrm>
            <a:off x="8031962" y="1600200"/>
            <a:ext cx="1895734" cy="640080"/>
          </a:xfrm>
          <a:prstGeom prst="rect">
            <a:avLst/>
          </a:prstGeom>
          <a:solidFill>
            <a:srgbClr val="C9A96E"/>
          </a:solidFill>
          <a:ln cap="flat" cmpd="sng" w="9525">
            <a:solidFill>
              <a:srgbClr val="C9A9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9"/>
          <p:cNvSpPr txBox="1"/>
          <p:nvPr/>
        </p:nvSpPr>
        <p:spPr>
          <a:xfrm>
            <a:off x="8123402" y="1783080"/>
            <a:ext cx="171285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0A0B10"/>
                </a:solidFill>
                <a:latin typeface="Arial"/>
                <a:ea typeface="Arial"/>
                <a:cs typeface="Arial"/>
                <a:sym typeface="Arial"/>
              </a:rPr>
              <a:t>SITTING 9.5h</a:t>
            </a:r>
            <a:endParaRPr/>
          </a:p>
        </p:txBody>
      </p:sp>
      <p:sp>
        <p:nvSpPr>
          <p:cNvPr id="113" name="Google Shape;113;p19"/>
          <p:cNvSpPr/>
          <p:nvPr/>
        </p:nvSpPr>
        <p:spPr>
          <a:xfrm>
            <a:off x="9927696" y="1600200"/>
            <a:ext cx="497630" cy="640080"/>
          </a:xfrm>
          <a:prstGeom prst="rect">
            <a:avLst/>
          </a:prstGeom>
          <a:solidFill>
            <a:srgbClr val="3E5047"/>
          </a:solidFill>
          <a:ln cap="flat" cmpd="sng" w="9525">
            <a:solidFill>
              <a:srgbClr val="3E50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9"/>
          <p:cNvSpPr txBox="1"/>
          <p:nvPr/>
        </p:nvSpPr>
        <p:spPr>
          <a:xfrm>
            <a:off x="10019123" y="1783075"/>
            <a:ext cx="406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E4D9C4"/>
                </a:solidFill>
                <a:latin typeface="Arial"/>
                <a:ea typeface="Arial"/>
                <a:cs typeface="Arial"/>
                <a:sym typeface="Arial"/>
              </a:rPr>
              <a:t>MOVE 2.5h</a:t>
            </a:r>
            <a:endParaRPr/>
          </a:p>
        </p:txBody>
      </p:sp>
      <p:sp>
        <p:nvSpPr>
          <p:cNvPr id="115" name="Google Shape;115;p19"/>
          <p:cNvSpPr/>
          <p:nvPr/>
        </p:nvSpPr>
        <p:spPr>
          <a:xfrm>
            <a:off x="10425326" y="1600200"/>
            <a:ext cx="1080568" cy="640080"/>
          </a:xfrm>
          <a:prstGeom prst="rect">
            <a:avLst/>
          </a:prstGeom>
          <a:solidFill>
            <a:srgbClr val="242732"/>
          </a:solidFill>
          <a:ln cap="flat" cmpd="sng" w="9525">
            <a:solidFill>
              <a:srgbClr val="2427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9"/>
          <p:cNvSpPr txBox="1"/>
          <p:nvPr/>
        </p:nvSpPr>
        <p:spPr>
          <a:xfrm>
            <a:off x="10516766" y="1783080"/>
            <a:ext cx="8976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B8AC94"/>
                </a:solidFill>
                <a:latin typeface="Arial"/>
                <a:ea typeface="Arial"/>
                <a:cs typeface="Arial"/>
                <a:sym typeface="Arial"/>
              </a:rPr>
              <a:t>OTHER 4h</a:t>
            </a:r>
            <a:endParaRPr/>
          </a:p>
        </p:txBody>
      </p:sp>
      <p:sp>
        <p:nvSpPr>
          <p:cNvPr id="117" name="Google Shape;117;p19"/>
          <p:cNvSpPr txBox="1"/>
          <p:nvPr/>
        </p:nvSpPr>
        <p:spPr>
          <a:xfrm>
            <a:off x="6766560" y="2331720"/>
            <a:ext cx="4739335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rgbClr val="8A827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ONS UK Time Use Survey · 2022-23</a:t>
            </a:r>
            <a:r>
              <a:rPr b="1" lang="en-US" sz="1000">
                <a:solidFill>
                  <a:srgbClr val="C9A96E"/>
                </a:solidFill>
                <a:latin typeface="Arial"/>
                <a:ea typeface="Arial"/>
                <a:cs typeface="Arial"/>
                <a:sym typeface="Arial"/>
              </a:rPr>
              <a:t>           40% SITTING</a:t>
            </a:r>
            <a:endParaRPr/>
          </a:p>
        </p:txBody>
      </p:sp>
      <p:sp>
        <p:nvSpPr>
          <p:cNvPr id="118" name="Google Shape;118;p19"/>
          <p:cNvSpPr/>
          <p:nvPr/>
        </p:nvSpPr>
        <p:spPr>
          <a:xfrm>
            <a:off x="6766550" y="2880354"/>
            <a:ext cx="4739400" cy="1867500"/>
          </a:xfrm>
          <a:prstGeom prst="rect">
            <a:avLst/>
          </a:prstGeom>
          <a:solidFill>
            <a:srgbClr val="1A1C26"/>
          </a:solidFill>
          <a:ln cap="flat" cmpd="sng" w="12700">
            <a:solidFill>
              <a:srgbClr val="C9A9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9"/>
          <p:cNvSpPr/>
          <p:nvPr/>
        </p:nvSpPr>
        <p:spPr>
          <a:xfrm>
            <a:off x="7040880" y="2916936"/>
            <a:ext cx="4190695" cy="12700"/>
          </a:xfrm>
          <a:prstGeom prst="rect">
            <a:avLst/>
          </a:prstGeom>
          <a:solidFill>
            <a:srgbClr val="E6C6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9"/>
          <p:cNvSpPr txBox="1"/>
          <p:nvPr/>
        </p:nvSpPr>
        <p:spPr>
          <a:xfrm>
            <a:off x="7040880" y="3200400"/>
            <a:ext cx="139689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E4D9C4"/>
                </a:solidFill>
                <a:latin typeface="Arial"/>
                <a:ea typeface="Arial"/>
                <a:cs typeface="Arial"/>
                <a:sym typeface="Arial"/>
              </a:rPr>
              <a:t>CARDIOVASCULAR</a:t>
            </a:r>
            <a:endParaRPr/>
          </a:p>
        </p:txBody>
      </p:sp>
      <p:sp>
        <p:nvSpPr>
          <p:cNvPr id="121" name="Google Shape;121;p19"/>
          <p:cNvSpPr txBox="1"/>
          <p:nvPr/>
        </p:nvSpPr>
        <p:spPr>
          <a:xfrm>
            <a:off x="7040880" y="3566160"/>
            <a:ext cx="13968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E6C6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+147</a:t>
            </a:r>
            <a:r>
              <a:rPr b="1" lang="en-US" sz="3000">
                <a:solidFill>
                  <a:srgbClr val="C9A96E"/>
                </a:solidFill>
                <a:latin typeface="Arial"/>
                <a:ea typeface="Arial"/>
                <a:cs typeface="Arial"/>
                <a:sym typeface="Arial"/>
              </a:rPr>
              <a:t>% </a:t>
            </a:r>
            <a:r>
              <a:rPr b="1" lang="en-US" sz="2500">
                <a:solidFill>
                  <a:srgbClr val="C9A96E"/>
                </a:solidFill>
                <a:latin typeface="Arial"/>
                <a:ea typeface="Arial"/>
                <a:cs typeface="Arial"/>
                <a:sym typeface="Arial"/>
              </a:rPr>
              <a:t>RISK</a:t>
            </a:r>
            <a:endParaRPr sz="2500"/>
          </a:p>
        </p:txBody>
      </p:sp>
      <p:sp>
        <p:nvSpPr>
          <p:cNvPr id="122" name="Google Shape;122;p19"/>
          <p:cNvSpPr txBox="1"/>
          <p:nvPr/>
        </p:nvSpPr>
        <p:spPr>
          <a:xfrm>
            <a:off x="7040880" y="4487640"/>
            <a:ext cx="1396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00">
                <a:solidFill>
                  <a:srgbClr val="8A827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Wilmot et al, Diabetologia, 2012</a:t>
            </a:r>
            <a:endParaRPr sz="1200"/>
          </a:p>
        </p:txBody>
      </p:sp>
      <p:sp>
        <p:nvSpPr>
          <p:cNvPr id="123" name="Google Shape;123;p19"/>
          <p:cNvSpPr txBox="1"/>
          <p:nvPr/>
        </p:nvSpPr>
        <p:spPr>
          <a:xfrm>
            <a:off x="8437778" y="3200400"/>
            <a:ext cx="139689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E4D9C4"/>
                </a:solidFill>
                <a:latin typeface="Arial"/>
                <a:ea typeface="Arial"/>
                <a:cs typeface="Arial"/>
                <a:sym typeface="Arial"/>
              </a:rPr>
              <a:t>TYPE 2 DIABETES</a:t>
            </a:r>
            <a:endParaRPr/>
          </a:p>
        </p:txBody>
      </p:sp>
      <p:sp>
        <p:nvSpPr>
          <p:cNvPr id="124" name="Google Shape;124;p19"/>
          <p:cNvSpPr txBox="1"/>
          <p:nvPr/>
        </p:nvSpPr>
        <p:spPr>
          <a:xfrm>
            <a:off x="8437778" y="3566160"/>
            <a:ext cx="13968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E6C6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+112</a:t>
            </a:r>
            <a:r>
              <a:rPr b="1" lang="en-US" sz="3000">
                <a:solidFill>
                  <a:srgbClr val="C9A96E"/>
                </a:solidFill>
                <a:latin typeface="Arial"/>
                <a:ea typeface="Arial"/>
                <a:cs typeface="Arial"/>
                <a:sym typeface="Arial"/>
              </a:rPr>
              <a:t>% </a:t>
            </a:r>
            <a:r>
              <a:rPr b="1" lang="en-US" sz="2500">
                <a:solidFill>
                  <a:srgbClr val="C9A96E"/>
                </a:solidFill>
                <a:latin typeface="Arial"/>
                <a:ea typeface="Arial"/>
                <a:cs typeface="Arial"/>
                <a:sym typeface="Arial"/>
              </a:rPr>
              <a:t>RISK</a:t>
            </a:r>
            <a:endParaRPr sz="2500"/>
          </a:p>
        </p:txBody>
      </p:sp>
      <p:sp>
        <p:nvSpPr>
          <p:cNvPr id="125" name="Google Shape;125;p19"/>
          <p:cNvSpPr txBox="1"/>
          <p:nvPr/>
        </p:nvSpPr>
        <p:spPr>
          <a:xfrm>
            <a:off x="8437778" y="4487640"/>
            <a:ext cx="1396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00">
                <a:solidFill>
                  <a:srgbClr val="8A827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meta-analysis, 794,577 people</a:t>
            </a:r>
            <a:endParaRPr sz="1200"/>
          </a:p>
        </p:txBody>
      </p:sp>
      <p:sp>
        <p:nvSpPr>
          <p:cNvPr id="126" name="Google Shape;126;p19"/>
          <p:cNvSpPr txBox="1"/>
          <p:nvPr/>
        </p:nvSpPr>
        <p:spPr>
          <a:xfrm>
            <a:off x="9834676" y="3200400"/>
            <a:ext cx="139689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E4D9C4"/>
                </a:solidFill>
                <a:latin typeface="Arial"/>
                <a:ea typeface="Arial"/>
                <a:cs typeface="Arial"/>
                <a:sym typeface="Arial"/>
              </a:rPr>
              <a:t>ALL-CAUSE MORTALITY</a:t>
            </a:r>
            <a:endParaRPr/>
          </a:p>
        </p:txBody>
      </p:sp>
      <p:sp>
        <p:nvSpPr>
          <p:cNvPr id="127" name="Google Shape;127;p19"/>
          <p:cNvSpPr txBox="1"/>
          <p:nvPr/>
        </p:nvSpPr>
        <p:spPr>
          <a:xfrm>
            <a:off x="9834676" y="3566160"/>
            <a:ext cx="1396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E6C6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+40</a:t>
            </a:r>
            <a:r>
              <a:rPr b="1" lang="en-US" sz="3000">
                <a:solidFill>
                  <a:srgbClr val="C9A96E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 sz="3000"/>
          </a:p>
        </p:txBody>
      </p:sp>
      <p:sp>
        <p:nvSpPr>
          <p:cNvPr id="128" name="Google Shape;128;p19"/>
          <p:cNvSpPr txBox="1"/>
          <p:nvPr/>
        </p:nvSpPr>
        <p:spPr>
          <a:xfrm>
            <a:off x="9834676" y="4027850"/>
            <a:ext cx="1396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B8AC94"/>
                </a:solidFill>
                <a:latin typeface="Arial"/>
                <a:ea typeface="Arial"/>
                <a:cs typeface="Arial"/>
                <a:sym typeface="Arial"/>
              </a:rPr>
              <a:t>AT 8+ HRS/DAY</a:t>
            </a:r>
            <a:endParaRPr/>
          </a:p>
        </p:txBody>
      </p:sp>
      <p:sp>
        <p:nvSpPr>
          <p:cNvPr id="129" name="Google Shape;129;p19"/>
          <p:cNvSpPr txBox="1"/>
          <p:nvPr/>
        </p:nvSpPr>
        <p:spPr>
          <a:xfrm>
            <a:off x="9834676" y="4487628"/>
            <a:ext cx="1396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00">
                <a:solidFill>
                  <a:srgbClr val="8A827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Ekelund et al, The Lancet, 2016</a:t>
            </a:r>
            <a:endParaRPr sz="1200"/>
          </a:p>
        </p:txBody>
      </p:sp>
      <p:sp>
        <p:nvSpPr>
          <p:cNvPr id="130" name="Google Shape;130;p19"/>
          <p:cNvSpPr/>
          <p:nvPr/>
        </p:nvSpPr>
        <p:spPr>
          <a:xfrm>
            <a:off x="685800" y="6355080"/>
            <a:ext cx="10820095" cy="9525"/>
          </a:xfrm>
          <a:prstGeom prst="rect">
            <a:avLst/>
          </a:prstGeom>
          <a:solidFill>
            <a:srgbClr val="8A82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8A8272"/>
                </a:solidFill>
                <a:latin typeface="Arial"/>
                <a:ea typeface="Arial"/>
                <a:cs typeface="Arial"/>
                <a:sym typeface="Arial"/>
              </a:rPr>
              <a:t>SEDENTARY · CARDIOVASCULAR · METABOLIC · RESPIRATORY</a:t>
            </a:r>
            <a:endParaRPr/>
          </a:p>
        </p:txBody>
      </p:sp>
      <p:sp>
        <p:nvSpPr>
          <p:cNvPr id="132" name="Google Shape;132;p19"/>
          <p:cNvSpPr txBox="1"/>
          <p:nvPr/>
        </p:nvSpPr>
        <p:spPr>
          <a:xfrm>
            <a:off x="9677095" y="64465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8A8272"/>
                </a:solidFill>
                <a:latin typeface="Arial"/>
                <a:ea typeface="Arial"/>
                <a:cs typeface="Arial"/>
                <a:sym typeface="Arial"/>
              </a:rPr>
              <a:t>01 / 05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C26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/>
          <p:nvPr/>
        </p:nvSpPr>
        <p:spPr>
          <a:xfrm>
            <a:off x="685800" y="3200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C9A96E"/>
                </a:solidFill>
                <a:latin typeface="Arial"/>
                <a:ea typeface="Arial"/>
                <a:cs typeface="Arial"/>
                <a:sym typeface="Arial"/>
              </a:rPr>
              <a:t>CASE 02 · PROBLEM</a:t>
            </a:r>
            <a:endParaRPr/>
          </a:p>
        </p:txBody>
      </p:sp>
      <p:sp>
        <p:nvSpPr>
          <p:cNvPr id="138" name="Google Shape;138;p20"/>
          <p:cNvSpPr txBox="1"/>
          <p:nvPr/>
        </p:nvSpPr>
        <p:spPr>
          <a:xfrm>
            <a:off x="7848295" y="320040"/>
            <a:ext cx="3657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4EC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Resona   </a:t>
            </a:r>
            <a:r>
              <a:rPr b="1" lang="en-US" sz="1000">
                <a:solidFill>
                  <a:srgbClr val="8A8272"/>
                </a:solidFill>
                <a:latin typeface="Arial"/>
                <a:ea typeface="Arial"/>
                <a:cs typeface="Arial"/>
                <a:sym typeface="Arial"/>
              </a:rPr>
              <a:t>02 / 0</a:t>
            </a:r>
            <a:r>
              <a:rPr b="1" lang="en-US" sz="1000">
                <a:solidFill>
                  <a:srgbClr val="8A8272"/>
                </a:solidFill>
              </a:rPr>
              <a:t>4</a:t>
            </a:r>
            <a:endParaRPr/>
          </a:p>
        </p:txBody>
      </p:sp>
      <p:sp>
        <p:nvSpPr>
          <p:cNvPr id="139" name="Google Shape;139;p20"/>
          <p:cNvSpPr/>
          <p:nvPr/>
        </p:nvSpPr>
        <p:spPr>
          <a:xfrm>
            <a:off x="685800" y="685800"/>
            <a:ext cx="10820095" cy="9525"/>
          </a:xfrm>
          <a:prstGeom prst="rect">
            <a:avLst/>
          </a:prstGeom>
          <a:solidFill>
            <a:srgbClr val="8A82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0"/>
          <p:cNvSpPr txBox="1"/>
          <p:nvPr/>
        </p:nvSpPr>
        <p:spPr>
          <a:xfrm>
            <a:off x="685800" y="1097280"/>
            <a:ext cx="108200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C9A96E"/>
                </a:solidFill>
                <a:latin typeface="Arial"/>
                <a:ea typeface="Arial"/>
                <a:cs typeface="Arial"/>
                <a:sym typeface="Arial"/>
              </a:rPr>
              <a:t>THE MARKET IS MOVING. THE TOOLS ARE NOT.</a:t>
            </a:r>
            <a:endParaRPr/>
          </a:p>
        </p:txBody>
      </p:sp>
      <p:sp>
        <p:nvSpPr>
          <p:cNvPr id="141" name="Google Shape;141;p20"/>
          <p:cNvSpPr txBox="1"/>
          <p:nvPr/>
        </p:nvSpPr>
        <p:spPr>
          <a:xfrm>
            <a:off x="685788" y="1358813"/>
            <a:ext cx="108201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rgbClr val="F4EC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supporting the </a:t>
            </a:r>
            <a:r>
              <a:rPr lang="en-US" sz="3000">
                <a:solidFill>
                  <a:srgbClr val="F4EC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improvement</a:t>
            </a:r>
            <a:r>
              <a:rPr lang="en-US" sz="3000">
                <a:solidFill>
                  <a:srgbClr val="F4EC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employees’ health and wellness directly, businesses are able to be more productive, less absent, and longer-tenured. The economics are settled. The delivery is not.</a:t>
            </a:r>
            <a:endParaRPr sz="3000">
              <a:solidFill>
                <a:srgbClr val="F4ECE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rgbClr val="F4ECE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F4ECE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20"/>
          <p:cNvSpPr/>
          <p:nvPr/>
        </p:nvSpPr>
        <p:spPr>
          <a:xfrm>
            <a:off x="685800" y="3046445"/>
            <a:ext cx="5181300" cy="2606100"/>
          </a:xfrm>
          <a:prstGeom prst="rect">
            <a:avLst/>
          </a:prstGeom>
          <a:solidFill>
            <a:srgbClr val="12131A"/>
          </a:solidFill>
          <a:ln cap="flat" cmpd="sng" w="9525">
            <a:solidFill>
              <a:srgbClr val="8A82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0"/>
          <p:cNvSpPr/>
          <p:nvPr/>
        </p:nvSpPr>
        <p:spPr>
          <a:xfrm>
            <a:off x="685800" y="3046445"/>
            <a:ext cx="5181300" cy="255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0"/>
          <p:cNvSpPr txBox="1"/>
          <p:nvPr/>
        </p:nvSpPr>
        <p:spPr>
          <a:xfrm>
            <a:off x="960120" y="3229325"/>
            <a:ext cx="4632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C9A96E"/>
                </a:solidFill>
                <a:latin typeface="Arial"/>
                <a:ea typeface="Arial"/>
                <a:cs typeface="Arial"/>
                <a:sym typeface="Arial"/>
              </a:rPr>
              <a:t>CASE A</a:t>
            </a:r>
            <a:r>
              <a:rPr b="1" lang="en-US" sz="900">
                <a:solidFill>
                  <a:srgbClr val="7BC196"/>
                </a:solidFill>
                <a:latin typeface="Arial"/>
                <a:ea typeface="Arial"/>
                <a:cs typeface="Arial"/>
                <a:sym typeface="Arial"/>
              </a:rPr>
              <a:t>       DEMAND VALIDATED</a:t>
            </a:r>
            <a:endParaRPr/>
          </a:p>
        </p:txBody>
      </p:sp>
      <p:sp>
        <p:nvSpPr>
          <p:cNvPr id="145" name="Google Shape;145;p20"/>
          <p:cNvSpPr txBox="1"/>
          <p:nvPr/>
        </p:nvSpPr>
        <p:spPr>
          <a:xfrm>
            <a:off x="960120" y="3549365"/>
            <a:ext cx="4632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8A827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Hedgeweek · July 2025</a:t>
            </a:r>
            <a:endParaRPr/>
          </a:p>
        </p:txBody>
      </p:sp>
      <p:sp>
        <p:nvSpPr>
          <p:cNvPr id="146" name="Google Shape;146;p20"/>
          <p:cNvSpPr txBox="1"/>
          <p:nvPr/>
        </p:nvSpPr>
        <p:spPr>
          <a:xfrm>
            <a:off x="960120" y="3869405"/>
            <a:ext cx="46329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>
                <a:solidFill>
                  <a:srgbClr val="F4EC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Citadel hires its first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>
                <a:solidFill>
                  <a:srgbClr val="F4EC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Chief Medical Officer.</a:t>
            </a:r>
            <a:endParaRPr/>
          </a:p>
        </p:txBody>
      </p:sp>
      <p:sp>
        <p:nvSpPr>
          <p:cNvPr id="147" name="Google Shape;147;p20"/>
          <p:cNvSpPr txBox="1"/>
          <p:nvPr/>
        </p:nvSpPr>
        <p:spPr>
          <a:xfrm>
            <a:off x="960120" y="4738085"/>
            <a:ext cx="4632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E4D9C4"/>
                </a:solidFill>
                <a:latin typeface="Arial"/>
                <a:ea typeface="Arial"/>
                <a:cs typeface="Arial"/>
                <a:sym typeface="Arial"/>
              </a:rPr>
              <a:t>Ken Griffin appoints Dr David Stark (ex-Morgan Stanley, Harvard-trained pediatric neurologist) to drive peak performance across the firm. A signal the $5.7 trillion hedge fund industry treats employee health as alpha.</a:t>
            </a:r>
            <a:endParaRPr/>
          </a:p>
        </p:txBody>
      </p:sp>
      <p:sp>
        <p:nvSpPr>
          <p:cNvPr id="148" name="Google Shape;148;p20"/>
          <p:cNvSpPr txBox="1"/>
          <p:nvPr/>
        </p:nvSpPr>
        <p:spPr>
          <a:xfrm>
            <a:off x="960120" y="5286725"/>
            <a:ext cx="4632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8A827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First-ever CMO on Wall Street · July 2025</a:t>
            </a:r>
            <a:endParaRPr/>
          </a:p>
        </p:txBody>
      </p:sp>
      <p:sp>
        <p:nvSpPr>
          <p:cNvPr id="149" name="Google Shape;149;p20"/>
          <p:cNvSpPr/>
          <p:nvPr/>
        </p:nvSpPr>
        <p:spPr>
          <a:xfrm>
            <a:off x="6324447" y="3046445"/>
            <a:ext cx="5181300" cy="2606100"/>
          </a:xfrm>
          <a:prstGeom prst="rect">
            <a:avLst/>
          </a:prstGeom>
          <a:solidFill>
            <a:srgbClr val="12131A"/>
          </a:solidFill>
          <a:ln cap="flat" cmpd="sng" w="9525">
            <a:solidFill>
              <a:srgbClr val="8A82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0"/>
          <p:cNvSpPr/>
          <p:nvPr/>
        </p:nvSpPr>
        <p:spPr>
          <a:xfrm>
            <a:off x="6324447" y="3046445"/>
            <a:ext cx="5181300" cy="255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0"/>
          <p:cNvSpPr txBox="1"/>
          <p:nvPr/>
        </p:nvSpPr>
        <p:spPr>
          <a:xfrm>
            <a:off x="6598767" y="3229325"/>
            <a:ext cx="4632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C9A96E"/>
                </a:solidFill>
                <a:latin typeface="Arial"/>
                <a:ea typeface="Arial"/>
                <a:cs typeface="Arial"/>
                <a:sym typeface="Arial"/>
              </a:rPr>
              <a:t>CASE B</a:t>
            </a:r>
            <a:r>
              <a:rPr b="1" lang="en-US" sz="900">
                <a:solidFill>
                  <a:srgbClr val="D18589"/>
                </a:solidFill>
                <a:latin typeface="Arial"/>
                <a:ea typeface="Arial"/>
                <a:cs typeface="Arial"/>
                <a:sym typeface="Arial"/>
              </a:rPr>
              <a:t>       SUPPLY BROKEN</a:t>
            </a:r>
            <a:endParaRPr/>
          </a:p>
        </p:txBody>
      </p:sp>
      <p:sp>
        <p:nvSpPr>
          <p:cNvPr id="152" name="Google Shape;152;p20"/>
          <p:cNvSpPr txBox="1"/>
          <p:nvPr/>
        </p:nvSpPr>
        <p:spPr>
          <a:xfrm>
            <a:off x="6598767" y="3549365"/>
            <a:ext cx="4632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8A827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Healthcare Innovation · Fitbit corporate study</a:t>
            </a:r>
            <a:endParaRPr/>
          </a:p>
        </p:txBody>
      </p:sp>
      <p:sp>
        <p:nvSpPr>
          <p:cNvPr id="153" name="Google Shape;153;p20"/>
          <p:cNvSpPr txBox="1"/>
          <p:nvPr/>
        </p:nvSpPr>
        <p:spPr>
          <a:xfrm>
            <a:off x="6598767" y="3869405"/>
            <a:ext cx="46329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>
                <a:solidFill>
                  <a:srgbClr val="F4EC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wearable gap.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>
                <a:solidFill>
                  <a:srgbClr val="F4EC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£1,000 saved, then abandoned.</a:t>
            </a:r>
            <a:endParaRPr/>
          </a:p>
        </p:txBody>
      </p:sp>
      <p:sp>
        <p:nvSpPr>
          <p:cNvPr id="154" name="Google Shape;154;p20"/>
          <p:cNvSpPr txBox="1"/>
          <p:nvPr/>
        </p:nvSpPr>
        <p:spPr>
          <a:xfrm>
            <a:off x="6598767" y="4738085"/>
            <a:ext cx="46329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E4D9C4"/>
                </a:solidFill>
                <a:latin typeface="Arial"/>
                <a:ea typeface="Arial"/>
                <a:cs typeface="Arial"/>
                <a:sym typeface="Arial"/>
              </a:rPr>
              <a:t>Enrolled employees saved an average £1,000 per year in healthcare costs but 40% dropped off by month three. Fitbit corporate sales have declined every year since 2018. The demand is there. The hardware is not the answer.</a:t>
            </a:r>
            <a:endParaRPr/>
          </a:p>
        </p:txBody>
      </p:sp>
      <p:sp>
        <p:nvSpPr>
          <p:cNvPr id="155" name="Google Shape;155;p20"/>
          <p:cNvSpPr txBox="1"/>
          <p:nvPr/>
        </p:nvSpPr>
        <p:spPr>
          <a:xfrm>
            <a:off x="6598767" y="5427363"/>
            <a:ext cx="4632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8A827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Global corporate wellness market: $53 bn · mostly unloved</a:t>
            </a:r>
            <a:endParaRPr/>
          </a:p>
        </p:txBody>
      </p:sp>
      <p:sp>
        <p:nvSpPr>
          <p:cNvPr id="156" name="Google Shape;156;p20"/>
          <p:cNvSpPr txBox="1"/>
          <p:nvPr/>
        </p:nvSpPr>
        <p:spPr>
          <a:xfrm>
            <a:off x="619350" y="5865223"/>
            <a:ext cx="1082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>
                <a:solidFill>
                  <a:srgbClr val="E4D9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daily, private, hardware-free check-in for a whole team. Until now.</a:t>
            </a:r>
            <a:endParaRPr/>
          </a:p>
        </p:txBody>
      </p:sp>
      <p:sp>
        <p:nvSpPr>
          <p:cNvPr id="157" name="Google Shape;157;p20"/>
          <p:cNvSpPr/>
          <p:nvPr/>
        </p:nvSpPr>
        <p:spPr>
          <a:xfrm>
            <a:off x="685800" y="6355080"/>
            <a:ext cx="10820095" cy="9525"/>
          </a:xfrm>
          <a:prstGeom prst="rect">
            <a:avLst/>
          </a:prstGeom>
          <a:solidFill>
            <a:srgbClr val="8A82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0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8A8272"/>
                </a:solidFill>
                <a:latin typeface="Arial"/>
                <a:ea typeface="Arial"/>
                <a:cs typeface="Arial"/>
                <a:sym typeface="Arial"/>
              </a:rPr>
              <a:t>Citadel · July 2025   ·   Fitbit corporate · Healthcare Innovation study</a:t>
            </a:r>
            <a:endParaRPr/>
          </a:p>
        </p:txBody>
      </p:sp>
      <p:sp>
        <p:nvSpPr>
          <p:cNvPr id="159" name="Google Shape;159;p20"/>
          <p:cNvSpPr txBox="1"/>
          <p:nvPr/>
        </p:nvSpPr>
        <p:spPr>
          <a:xfrm>
            <a:off x="9677095" y="64465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8A8272"/>
                </a:solidFill>
                <a:latin typeface="Arial"/>
                <a:ea typeface="Arial"/>
                <a:cs typeface="Arial"/>
                <a:sym typeface="Arial"/>
              </a:rPr>
              <a:t>02 / 05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31A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"/>
          <p:cNvSpPr txBox="1"/>
          <p:nvPr/>
        </p:nvSpPr>
        <p:spPr>
          <a:xfrm>
            <a:off x="685800" y="3200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C9A96E"/>
                </a:solidFill>
                <a:latin typeface="Arial"/>
                <a:ea typeface="Arial"/>
                <a:cs typeface="Arial"/>
                <a:sym typeface="Arial"/>
              </a:rPr>
              <a:t>CASE 03 · SOLUTION</a:t>
            </a:r>
            <a:endParaRPr/>
          </a:p>
        </p:txBody>
      </p:sp>
      <p:sp>
        <p:nvSpPr>
          <p:cNvPr id="165" name="Google Shape;165;p21"/>
          <p:cNvSpPr txBox="1"/>
          <p:nvPr/>
        </p:nvSpPr>
        <p:spPr>
          <a:xfrm>
            <a:off x="7848295" y="320040"/>
            <a:ext cx="3657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4EC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Resona   </a:t>
            </a:r>
            <a:r>
              <a:rPr b="1" lang="en-US" sz="1000">
                <a:solidFill>
                  <a:srgbClr val="8A8272"/>
                </a:solidFill>
                <a:latin typeface="Arial"/>
                <a:ea typeface="Arial"/>
                <a:cs typeface="Arial"/>
                <a:sym typeface="Arial"/>
              </a:rPr>
              <a:t>03 / 0</a:t>
            </a:r>
            <a:r>
              <a:rPr b="1" lang="en-US" sz="1000">
                <a:solidFill>
                  <a:srgbClr val="8A8272"/>
                </a:solidFill>
              </a:rPr>
              <a:t>4</a:t>
            </a:r>
            <a:endParaRPr/>
          </a:p>
        </p:txBody>
      </p:sp>
      <p:sp>
        <p:nvSpPr>
          <p:cNvPr id="166" name="Google Shape;166;p21"/>
          <p:cNvSpPr/>
          <p:nvPr/>
        </p:nvSpPr>
        <p:spPr>
          <a:xfrm>
            <a:off x="685800" y="685800"/>
            <a:ext cx="10820095" cy="9525"/>
          </a:xfrm>
          <a:prstGeom prst="rect">
            <a:avLst/>
          </a:prstGeom>
          <a:solidFill>
            <a:srgbClr val="8A82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1"/>
          <p:cNvSpPr txBox="1"/>
          <p:nvPr/>
        </p:nvSpPr>
        <p:spPr>
          <a:xfrm>
            <a:off x="685800" y="1097280"/>
            <a:ext cx="108200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C9A96E"/>
                </a:solidFill>
                <a:latin typeface="Arial"/>
                <a:ea typeface="Arial"/>
                <a:cs typeface="Arial"/>
                <a:sym typeface="Arial"/>
              </a:rPr>
              <a:t>THREE SIGNALS · ONE PHONE · TWO MINUTES</a:t>
            </a:r>
            <a:endParaRPr/>
          </a:p>
        </p:txBody>
      </p:sp>
      <p:sp>
        <p:nvSpPr>
          <p:cNvPr id="168" name="Google Shape;168;p21"/>
          <p:cNvSpPr txBox="1"/>
          <p:nvPr/>
        </p:nvSpPr>
        <p:spPr>
          <a:xfrm>
            <a:off x="685800" y="1554480"/>
            <a:ext cx="10820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F4EC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Resona</a:t>
            </a:r>
            <a:r>
              <a:rPr lang="en-US" sz="5400">
                <a:solidFill>
                  <a:srgbClr val="F4EC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-US" sz="5400">
                <a:solidFill>
                  <a:srgbClr val="F4EC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Every phone is an </a:t>
            </a:r>
            <a:r>
              <a:rPr i="1" lang="en-US" sz="5400">
                <a:solidFill>
                  <a:srgbClr val="C9A96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instrument.</a:t>
            </a:r>
            <a:endParaRPr/>
          </a:p>
        </p:txBody>
      </p:sp>
      <p:sp>
        <p:nvSpPr>
          <p:cNvPr id="169" name="Google Shape;169;p21"/>
          <p:cNvSpPr/>
          <p:nvPr/>
        </p:nvSpPr>
        <p:spPr>
          <a:xfrm>
            <a:off x="685800" y="2651750"/>
            <a:ext cx="3301800" cy="2743200"/>
          </a:xfrm>
          <a:prstGeom prst="rect">
            <a:avLst/>
          </a:prstGeom>
          <a:solidFill>
            <a:srgbClr val="1A1C26"/>
          </a:solidFill>
          <a:ln cap="flat" cmpd="sng" w="12700">
            <a:solidFill>
              <a:srgbClr val="C9A9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1"/>
          <p:cNvSpPr txBox="1"/>
          <p:nvPr/>
        </p:nvSpPr>
        <p:spPr>
          <a:xfrm>
            <a:off x="960120" y="2880350"/>
            <a:ext cx="2753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4000">
                <a:solidFill>
                  <a:srgbClr val="C9A96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</a:t>
            </a:r>
            <a:endParaRPr/>
          </a:p>
        </p:txBody>
      </p:sp>
      <p:sp>
        <p:nvSpPr>
          <p:cNvPr id="171" name="Google Shape;171;p21"/>
          <p:cNvSpPr txBox="1"/>
          <p:nvPr/>
        </p:nvSpPr>
        <p:spPr>
          <a:xfrm>
            <a:off x="3073298" y="2971790"/>
            <a:ext cx="731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7BC196"/>
                </a:solidFill>
                <a:latin typeface="Arial"/>
                <a:ea typeface="Arial"/>
                <a:cs typeface="Arial"/>
                <a:sym typeface="Arial"/>
              </a:rPr>
              <a:t>LIVE</a:t>
            </a:r>
            <a:endParaRPr/>
          </a:p>
        </p:txBody>
      </p:sp>
      <p:sp>
        <p:nvSpPr>
          <p:cNvPr id="172" name="Google Shape;172;p21"/>
          <p:cNvSpPr txBox="1"/>
          <p:nvPr/>
        </p:nvSpPr>
        <p:spPr>
          <a:xfrm>
            <a:off x="960120" y="3611870"/>
            <a:ext cx="275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>
                <a:solidFill>
                  <a:srgbClr val="F4EC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Breath.</a:t>
            </a:r>
            <a:endParaRPr/>
          </a:p>
        </p:txBody>
      </p:sp>
      <p:sp>
        <p:nvSpPr>
          <p:cNvPr id="173" name="Google Shape;173;p21"/>
          <p:cNvSpPr txBox="1"/>
          <p:nvPr/>
        </p:nvSpPr>
        <p:spPr>
          <a:xfrm>
            <a:off x="960120" y="4069070"/>
            <a:ext cx="2753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C9A96E"/>
                </a:solidFill>
                <a:latin typeface="Arial"/>
                <a:ea typeface="Arial"/>
                <a:cs typeface="Arial"/>
                <a:sym typeface="Arial"/>
              </a:rPr>
              <a:t>Microphone · Acoustic spirometry</a:t>
            </a:r>
            <a:endParaRPr/>
          </a:p>
        </p:txBody>
      </p:sp>
      <p:sp>
        <p:nvSpPr>
          <p:cNvPr id="174" name="Google Shape;174;p21"/>
          <p:cNvSpPr txBox="1"/>
          <p:nvPr/>
        </p:nvSpPr>
        <p:spPr>
          <a:xfrm>
            <a:off x="959870" y="4232498"/>
            <a:ext cx="2753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B8AC94"/>
                </a:solidFill>
              </a:rPr>
              <a:t>FEV1, FVC, PEF. Forced exhalation analysed from turbulent flow noise. Normalised to Hankinson NHANES III predicted values, ATS/ERS 2019 quality flags.</a:t>
            </a:r>
            <a:endParaRPr sz="1100">
              <a:solidFill>
                <a:srgbClr val="B8AC94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B8AC94"/>
              </a:solidFill>
            </a:endParaRPr>
          </a:p>
        </p:txBody>
      </p:sp>
      <p:sp>
        <p:nvSpPr>
          <p:cNvPr id="175" name="Google Shape;175;p21"/>
          <p:cNvSpPr txBox="1"/>
          <p:nvPr/>
        </p:nvSpPr>
        <p:spPr>
          <a:xfrm>
            <a:off x="960120" y="5074910"/>
            <a:ext cx="2753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8A827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Goel et al., SpiroSmart, UbiComp 2012 · 6s blow · 48 kHz PCM · on-device</a:t>
            </a:r>
            <a:endParaRPr/>
          </a:p>
        </p:txBody>
      </p:sp>
      <p:sp>
        <p:nvSpPr>
          <p:cNvPr id="176" name="Google Shape;176;p21"/>
          <p:cNvSpPr/>
          <p:nvPr/>
        </p:nvSpPr>
        <p:spPr>
          <a:xfrm>
            <a:off x="4444898" y="2651750"/>
            <a:ext cx="3301800" cy="2743200"/>
          </a:xfrm>
          <a:prstGeom prst="rect">
            <a:avLst/>
          </a:prstGeom>
          <a:solidFill>
            <a:srgbClr val="1A1C26"/>
          </a:solidFill>
          <a:ln cap="flat" cmpd="sng" w="12700">
            <a:solidFill>
              <a:srgbClr val="C9A9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1"/>
          <p:cNvSpPr txBox="1"/>
          <p:nvPr/>
        </p:nvSpPr>
        <p:spPr>
          <a:xfrm>
            <a:off x="4719218" y="2880350"/>
            <a:ext cx="2753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4000">
                <a:solidFill>
                  <a:srgbClr val="C9A96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02</a:t>
            </a:r>
            <a:endParaRPr/>
          </a:p>
        </p:txBody>
      </p:sp>
      <p:sp>
        <p:nvSpPr>
          <p:cNvPr id="178" name="Google Shape;178;p21"/>
          <p:cNvSpPr txBox="1"/>
          <p:nvPr/>
        </p:nvSpPr>
        <p:spPr>
          <a:xfrm>
            <a:off x="6832396" y="2971790"/>
            <a:ext cx="731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7BC196"/>
                </a:solidFill>
                <a:latin typeface="Arial"/>
                <a:ea typeface="Arial"/>
                <a:cs typeface="Arial"/>
                <a:sym typeface="Arial"/>
              </a:rPr>
              <a:t>LIVE</a:t>
            </a:r>
            <a:endParaRPr/>
          </a:p>
        </p:txBody>
      </p:sp>
      <p:sp>
        <p:nvSpPr>
          <p:cNvPr id="179" name="Google Shape;179;p21"/>
          <p:cNvSpPr txBox="1"/>
          <p:nvPr/>
        </p:nvSpPr>
        <p:spPr>
          <a:xfrm>
            <a:off x="4719218" y="3611870"/>
            <a:ext cx="275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>
                <a:solidFill>
                  <a:srgbClr val="F4EC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Motion.</a:t>
            </a:r>
            <a:endParaRPr/>
          </a:p>
        </p:txBody>
      </p:sp>
      <p:sp>
        <p:nvSpPr>
          <p:cNvPr id="180" name="Google Shape;180;p21"/>
          <p:cNvSpPr txBox="1"/>
          <p:nvPr/>
        </p:nvSpPr>
        <p:spPr>
          <a:xfrm>
            <a:off x="4719218" y="4069070"/>
            <a:ext cx="2753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C9A96E"/>
                </a:solidFill>
                <a:latin typeface="Arial"/>
                <a:ea typeface="Arial"/>
                <a:cs typeface="Arial"/>
                <a:sym typeface="Arial"/>
              </a:rPr>
              <a:t>IMU · DeviceMotion API</a:t>
            </a:r>
            <a:endParaRPr/>
          </a:p>
        </p:txBody>
      </p:sp>
      <p:sp>
        <p:nvSpPr>
          <p:cNvPr id="181" name="Google Shape;181;p21"/>
          <p:cNvSpPr txBox="1"/>
          <p:nvPr/>
        </p:nvSpPr>
        <p:spPr>
          <a:xfrm>
            <a:off x="4719218" y="4389110"/>
            <a:ext cx="2753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B8AC94"/>
                </a:solidFill>
                <a:latin typeface="Arial"/>
                <a:ea typeface="Arial"/>
                <a:cs typeface="Arial"/>
                <a:sym typeface="Arial"/>
              </a:rPr>
              <a:t>Tremor from 10s stillness. Gait cadence and stride variability from 10-step walk. Standing-up streaks over time.</a:t>
            </a:r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4719218" y="5074910"/>
            <a:ext cx="2753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8A827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60 Hz accelerometer · FFT bands</a:t>
            </a:r>
            <a:endParaRPr/>
          </a:p>
        </p:txBody>
      </p:sp>
      <p:sp>
        <p:nvSpPr>
          <p:cNvPr id="183" name="Google Shape;183;p21"/>
          <p:cNvSpPr/>
          <p:nvPr/>
        </p:nvSpPr>
        <p:spPr>
          <a:xfrm>
            <a:off x="8203996" y="2651750"/>
            <a:ext cx="3301800" cy="2743200"/>
          </a:xfrm>
          <a:prstGeom prst="rect">
            <a:avLst/>
          </a:prstGeom>
          <a:solidFill>
            <a:srgbClr val="12131A"/>
          </a:solidFill>
          <a:ln cap="flat" cmpd="sng" w="9525">
            <a:solidFill>
              <a:srgbClr val="8A82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1"/>
          <p:cNvSpPr txBox="1"/>
          <p:nvPr/>
        </p:nvSpPr>
        <p:spPr>
          <a:xfrm>
            <a:off x="8478316" y="2880350"/>
            <a:ext cx="2753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4000">
                <a:solidFill>
                  <a:srgbClr val="8A827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03</a:t>
            </a:r>
            <a:endParaRPr/>
          </a:p>
        </p:txBody>
      </p:sp>
      <p:sp>
        <p:nvSpPr>
          <p:cNvPr id="185" name="Google Shape;185;p21"/>
          <p:cNvSpPr txBox="1"/>
          <p:nvPr/>
        </p:nvSpPr>
        <p:spPr>
          <a:xfrm>
            <a:off x="10591494" y="2971790"/>
            <a:ext cx="731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C9A96E"/>
                </a:solidFill>
                <a:latin typeface="Arial"/>
                <a:ea typeface="Arial"/>
                <a:cs typeface="Arial"/>
                <a:sym typeface="Arial"/>
              </a:rPr>
              <a:t>Q3</a:t>
            </a:r>
            <a:endParaRPr/>
          </a:p>
        </p:txBody>
      </p:sp>
      <p:sp>
        <p:nvSpPr>
          <p:cNvPr id="186" name="Google Shape;186;p21"/>
          <p:cNvSpPr txBox="1"/>
          <p:nvPr/>
        </p:nvSpPr>
        <p:spPr>
          <a:xfrm>
            <a:off x="8478316" y="3611870"/>
            <a:ext cx="275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>
                <a:solidFill>
                  <a:srgbClr val="F4EC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Heart.</a:t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8478316" y="4069070"/>
            <a:ext cx="2753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C9A96E"/>
                </a:solidFill>
                <a:latin typeface="Arial"/>
                <a:ea typeface="Arial"/>
                <a:cs typeface="Arial"/>
                <a:sym typeface="Arial"/>
              </a:rPr>
              <a:t>Front camera · rPPG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8478316" y="4389110"/>
            <a:ext cx="2753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B8AC94"/>
                </a:solidFill>
                <a:latin typeface="Arial"/>
                <a:ea typeface="Arial"/>
                <a:cs typeface="Arial"/>
                <a:sym typeface="Arial"/>
              </a:rPr>
              <a:t>Resting heart rate and HRV from 30s face video. Sub-pixel colour oscillations, bandpass 0.7 to 4 Hz.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8478316" y="5074910"/>
            <a:ext cx="2753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8A827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MediaPipe ROI · Q3 2026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685875" y="5645698"/>
            <a:ext cx="1082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C9A96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processing on-device. </a:t>
            </a:r>
            <a:r>
              <a:rPr lang="en-US" sz="1800">
                <a:solidFill>
                  <a:srgbClr val="E4D9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audio, no video, no GPS leaves the phone.</a:t>
            </a:r>
            <a:endParaRPr/>
          </a:p>
        </p:txBody>
      </p:sp>
      <p:sp>
        <p:nvSpPr>
          <p:cNvPr id="191" name="Google Shape;191;p21"/>
          <p:cNvSpPr/>
          <p:nvPr/>
        </p:nvSpPr>
        <p:spPr>
          <a:xfrm>
            <a:off x="685800" y="6355080"/>
            <a:ext cx="10820095" cy="9525"/>
          </a:xfrm>
          <a:prstGeom prst="rect">
            <a:avLst/>
          </a:prstGeom>
          <a:solidFill>
            <a:srgbClr val="8A82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8A8272"/>
                </a:solidFill>
                <a:latin typeface="Arial"/>
                <a:ea typeface="Arial"/>
                <a:cs typeface="Arial"/>
                <a:sym typeface="Arial"/>
              </a:rPr>
              <a:t>Module 01 · Breath ▸ Module 02 · Motion ▸ Module 03 · Heart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9677095" y="6446520"/>
            <a:ext cx="1828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8A8272"/>
                </a:solidFill>
                <a:latin typeface="Arial"/>
                <a:ea typeface="Arial"/>
                <a:cs typeface="Arial"/>
                <a:sym typeface="Arial"/>
              </a:rPr>
              <a:t>03 / 0</a:t>
            </a:r>
            <a:r>
              <a:rPr b="1" lang="en-US" sz="900">
                <a:solidFill>
                  <a:srgbClr val="8A8272"/>
                </a:solidFill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C26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2"/>
          <p:cNvSpPr txBox="1"/>
          <p:nvPr/>
        </p:nvSpPr>
        <p:spPr>
          <a:xfrm>
            <a:off x="685800" y="3200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C9A96E"/>
                </a:solidFill>
                <a:latin typeface="Arial"/>
                <a:ea typeface="Arial"/>
                <a:cs typeface="Arial"/>
                <a:sym typeface="Arial"/>
              </a:rPr>
              <a:t>CASE 04 · LIVE DEMO</a:t>
            </a:r>
            <a:endParaRPr/>
          </a:p>
        </p:txBody>
      </p:sp>
      <p:sp>
        <p:nvSpPr>
          <p:cNvPr id="199" name="Google Shape;199;p22"/>
          <p:cNvSpPr txBox="1"/>
          <p:nvPr/>
        </p:nvSpPr>
        <p:spPr>
          <a:xfrm>
            <a:off x="7848295" y="320040"/>
            <a:ext cx="3657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4EC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Resona   </a:t>
            </a:r>
            <a:r>
              <a:rPr b="1" lang="en-US" sz="1000">
                <a:solidFill>
                  <a:srgbClr val="8A8272"/>
                </a:solidFill>
                <a:latin typeface="Arial"/>
                <a:ea typeface="Arial"/>
                <a:cs typeface="Arial"/>
                <a:sym typeface="Arial"/>
              </a:rPr>
              <a:t>04 / 0</a:t>
            </a:r>
            <a:r>
              <a:rPr b="1" lang="en-US" sz="1000">
                <a:solidFill>
                  <a:srgbClr val="8A8272"/>
                </a:solidFill>
              </a:rPr>
              <a:t>4</a:t>
            </a:r>
            <a:endParaRPr/>
          </a:p>
        </p:txBody>
      </p:sp>
      <p:sp>
        <p:nvSpPr>
          <p:cNvPr id="200" name="Google Shape;200;p22"/>
          <p:cNvSpPr/>
          <p:nvPr/>
        </p:nvSpPr>
        <p:spPr>
          <a:xfrm>
            <a:off x="685800" y="685800"/>
            <a:ext cx="10820095" cy="9525"/>
          </a:xfrm>
          <a:prstGeom prst="rect">
            <a:avLst/>
          </a:prstGeom>
          <a:solidFill>
            <a:srgbClr val="8A82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2"/>
          <p:cNvSpPr txBox="1"/>
          <p:nvPr/>
        </p:nvSpPr>
        <p:spPr>
          <a:xfrm>
            <a:off x="685800" y="1188720"/>
            <a:ext cx="6400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D18589"/>
                </a:solidFill>
                <a:latin typeface="Arial"/>
                <a:ea typeface="Arial"/>
                <a:cs typeface="Arial"/>
                <a:sym typeface="Arial"/>
              </a:rPr>
              <a:t>● LIVE </a:t>
            </a:r>
            <a:r>
              <a:rPr b="1" lang="en-US" sz="1100">
                <a:solidFill>
                  <a:srgbClr val="D18589"/>
                </a:solidFill>
              </a:rPr>
              <a:t>DEMO</a:t>
            </a:r>
            <a:endParaRPr/>
          </a:p>
        </p:txBody>
      </p:sp>
      <p:sp>
        <p:nvSpPr>
          <p:cNvPr id="202" name="Google Shape;202;p22"/>
          <p:cNvSpPr txBox="1"/>
          <p:nvPr/>
        </p:nvSpPr>
        <p:spPr>
          <a:xfrm>
            <a:off x="685800" y="1691640"/>
            <a:ext cx="6400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F4EC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Scan. Blow. </a:t>
            </a:r>
            <a:r>
              <a:rPr i="1" lang="en-US" sz="5000">
                <a:solidFill>
                  <a:srgbClr val="C9A96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Fill the bar.</a:t>
            </a:r>
            <a:endParaRPr sz="1200"/>
          </a:p>
        </p:txBody>
      </p:sp>
      <p:sp>
        <p:nvSpPr>
          <p:cNvPr id="203" name="Google Shape;203;p22"/>
          <p:cNvSpPr txBox="1"/>
          <p:nvPr/>
        </p:nvSpPr>
        <p:spPr>
          <a:xfrm>
            <a:off x="685800" y="2551368"/>
            <a:ext cx="64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200">
                <a:solidFill>
                  <a:srgbClr val="C9A96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</a:t>
            </a:r>
            <a:endParaRPr/>
          </a:p>
        </p:txBody>
      </p:sp>
      <p:sp>
        <p:nvSpPr>
          <p:cNvPr id="204" name="Google Shape;204;p22"/>
          <p:cNvSpPr txBox="1"/>
          <p:nvPr/>
        </p:nvSpPr>
        <p:spPr>
          <a:xfrm>
            <a:off x="1508760" y="2624520"/>
            <a:ext cx="5577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E4D9C4"/>
                </a:solidFill>
                <a:latin typeface="Arial"/>
                <a:ea typeface="Arial"/>
                <a:cs typeface="Arial"/>
                <a:sym typeface="Arial"/>
              </a:rPr>
              <a:t>Scan the code with your phone camera. You land on an onboarding form.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685800" y="3054288"/>
            <a:ext cx="64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200">
                <a:solidFill>
                  <a:srgbClr val="C9A96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02</a:t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1508760" y="3127440"/>
            <a:ext cx="5577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E4D9C4"/>
                </a:solidFill>
                <a:latin typeface="Arial"/>
                <a:ea typeface="Arial"/>
                <a:cs typeface="Arial"/>
                <a:sym typeface="Arial"/>
              </a:rPr>
              <a:t>Enter a team code.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685800" y="3557207"/>
            <a:ext cx="64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200">
                <a:solidFill>
                  <a:srgbClr val="C9A96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03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1508760" y="3630360"/>
            <a:ext cx="5577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E4D9C4"/>
                </a:solidFill>
                <a:latin typeface="Arial"/>
                <a:ea typeface="Arial"/>
                <a:cs typeface="Arial"/>
                <a:sym typeface="Arial"/>
              </a:rPr>
              <a:t>Blow into the bottom of your phone for six seconds.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685800" y="4060128"/>
            <a:ext cx="64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200">
                <a:solidFill>
                  <a:srgbClr val="C9A96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04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1508760" y="4133280"/>
            <a:ext cx="5577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E4D9C4"/>
                </a:solidFill>
                <a:latin typeface="Arial"/>
                <a:ea typeface="Arial"/>
                <a:cs typeface="Arial"/>
                <a:sym typeface="Arial"/>
              </a:rPr>
              <a:t>See your analysis, your numbers, and your team on the board.</a:t>
            </a:r>
            <a:endParaRPr/>
          </a:p>
        </p:txBody>
      </p:sp>
      <p:sp>
        <p:nvSpPr>
          <p:cNvPr id="211" name="Google Shape;211;p22"/>
          <p:cNvSpPr/>
          <p:nvPr/>
        </p:nvSpPr>
        <p:spPr>
          <a:xfrm>
            <a:off x="685800" y="5382425"/>
            <a:ext cx="6400800" cy="502800"/>
          </a:xfrm>
          <a:prstGeom prst="rect">
            <a:avLst/>
          </a:prstGeom>
          <a:solidFill>
            <a:srgbClr val="12131A"/>
          </a:solidFill>
          <a:ln cap="flat" cmpd="sng" w="12700">
            <a:solidFill>
              <a:srgbClr val="C9A9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 txBox="1"/>
          <p:nvPr/>
        </p:nvSpPr>
        <p:spPr>
          <a:xfrm>
            <a:off x="856745" y="5450940"/>
            <a:ext cx="5852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00">
                <a:solidFill>
                  <a:srgbClr val="E6C6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Fill the bar together. Top team takes the board.</a:t>
            </a:r>
            <a:endParaRPr/>
          </a:p>
        </p:txBody>
      </p:sp>
      <p:sp>
        <p:nvSpPr>
          <p:cNvPr id="213" name="Google Shape;213;p22"/>
          <p:cNvSpPr/>
          <p:nvPr/>
        </p:nvSpPr>
        <p:spPr>
          <a:xfrm>
            <a:off x="7253935" y="1325880"/>
            <a:ext cx="4480560" cy="4480560"/>
          </a:xfrm>
          <a:prstGeom prst="rect">
            <a:avLst/>
          </a:prstGeom>
          <a:solidFill>
            <a:srgbClr val="F4EC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4" name="Google Shape;21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82535" y="1554480"/>
            <a:ext cx="4023360" cy="402336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2"/>
          <p:cNvSpPr txBox="1"/>
          <p:nvPr/>
        </p:nvSpPr>
        <p:spPr>
          <a:xfrm>
            <a:off x="7253935" y="5852160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B8AC94"/>
                </a:solidFill>
                <a:latin typeface="Arial"/>
                <a:ea typeface="Arial"/>
                <a:cs typeface="Arial"/>
                <a:sym typeface="Arial"/>
              </a:rPr>
              <a:t>mocha-cleat-chastity.ngrok-free.dev</a:t>
            </a:r>
            <a:endParaRPr/>
          </a:p>
        </p:txBody>
      </p:sp>
      <p:sp>
        <p:nvSpPr>
          <p:cNvPr id="216" name="Google Shape;216;p22"/>
          <p:cNvSpPr/>
          <p:nvPr/>
        </p:nvSpPr>
        <p:spPr>
          <a:xfrm>
            <a:off x="685800" y="6355080"/>
            <a:ext cx="10820095" cy="9525"/>
          </a:xfrm>
          <a:prstGeom prst="rect">
            <a:avLst/>
          </a:prstGeom>
          <a:solidFill>
            <a:srgbClr val="8A82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8A8272"/>
                </a:solidFill>
                <a:latin typeface="Arial"/>
                <a:ea typeface="Arial"/>
                <a:cs typeface="Arial"/>
                <a:sym typeface="Arial"/>
              </a:rPr>
              <a:t>GP letter written live by GLM 5.1 · no audio leaves your phone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9677095" y="6446520"/>
            <a:ext cx="1828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8A8272"/>
                </a:solidFill>
                <a:latin typeface="Arial"/>
                <a:ea typeface="Arial"/>
                <a:cs typeface="Arial"/>
                <a:sym typeface="Arial"/>
              </a:rPr>
              <a:t>04 / 0</a:t>
            </a:r>
            <a:r>
              <a:rPr b="1" lang="en-US" sz="900">
                <a:solidFill>
                  <a:srgbClr val="8A8272"/>
                </a:solidFill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自定义设计方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自定义设计方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