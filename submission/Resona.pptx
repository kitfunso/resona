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00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C9A96E"/>
                </a:solidFill>
                <a:latin typeface="Alibaba PuHui 3.0"/>
              </a:rPr>
              <a:t>CASE 01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48295" y="32004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>
                <a:solidFill>
                  <a:srgbClr val="F4ECE1"/>
                </a:solidFill>
                <a:latin typeface="Times New Roman"/>
              </a:rPr>
              <a:t>Resona   </a:t>
            </a:r>
            <a:r>
              <a:rPr sz="1000" b="1">
                <a:solidFill>
                  <a:srgbClr val="8A8272"/>
                </a:solidFill>
                <a:latin typeface="Alibaba PuHui 3.0"/>
              </a:rPr>
              <a:t>01 / 05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85800"/>
            <a:ext cx="10820095" cy="9525"/>
          </a:xfrm>
          <a:prstGeom prst="rect">
            <a:avLst/>
          </a:prstGeom>
          <a:solidFill>
            <a:srgbClr val="8A82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C9A96E"/>
                </a:solidFill>
                <a:latin typeface="Alibaba PuHui 3.0"/>
              </a:rPr>
              <a:t>THE NUMBER YOU CANNOT SIT WITH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E4D9C4"/>
                </a:solidFill>
                <a:latin typeface="Alibaba PuHui 3.0"/>
              </a:rPr>
              <a:t>The average UK knowledge worker now spends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6692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0" b="0">
                <a:solidFill>
                  <a:srgbClr val="F4ECE1"/>
                </a:solidFill>
                <a:latin typeface="Times New Roman"/>
              </a:rPr>
              <a:t>9.5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069080"/>
            <a:ext cx="5669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C9A96E"/>
                </a:solidFill>
                <a:latin typeface="Alibaba PuHui 3.0"/>
              </a:rPr>
              <a:t>HOURS PER 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34840"/>
            <a:ext cx="5669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 i="0">
                <a:solidFill>
                  <a:srgbClr val="E4D9C4"/>
                </a:solidFill>
                <a:latin typeface="Alibaba PuHui 3.0"/>
              </a:rPr>
              <a:t>sitting at a desk.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937760"/>
            <a:ext cx="5669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0" i="1">
                <a:solidFill>
                  <a:srgbClr val="E6C68A"/>
                </a:solidFill>
                <a:latin typeface="Times New Roman"/>
              </a:rPr>
              <a:t>More than they sleep.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937760"/>
            <a:ext cx="25400" cy="73152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0" y="1188720"/>
            <a:ext cx="473933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 i="0">
                <a:solidFill>
                  <a:srgbClr val="8A8272"/>
                </a:solidFill>
                <a:latin typeface="Alibaba PuHui 3.0"/>
              </a:rPr>
              <a:t>A WEEKDAY, SAMPLED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0" y="1600200"/>
            <a:ext cx="1265402" cy="640080"/>
          </a:xfrm>
          <a:prstGeom prst="rect">
            <a:avLst/>
          </a:prstGeom>
          <a:solidFill>
            <a:srgbClr val="242732"/>
          </a:solidFill>
          <a:ln>
            <a:solidFill>
              <a:srgbClr val="2427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1783080"/>
            <a:ext cx="108252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i="0">
                <a:solidFill>
                  <a:srgbClr val="B8AC94"/>
                </a:solidFill>
                <a:latin typeface="Alibaba PuHui 3.0"/>
              </a:rPr>
              <a:t>SLEEP 8h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1962" y="1600200"/>
            <a:ext cx="1895734" cy="640080"/>
          </a:xfrm>
          <a:prstGeom prst="rect">
            <a:avLst/>
          </a:prstGeom>
          <a:solidFill>
            <a:srgbClr val="C9A96E"/>
          </a:solidFill>
          <a:ln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3402" y="1783080"/>
            <a:ext cx="171285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i="0">
                <a:solidFill>
                  <a:srgbClr val="0A0B10"/>
                </a:solidFill>
                <a:latin typeface="Alibaba PuHui 3.0"/>
              </a:rPr>
              <a:t>SITTING 9.5h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27696" y="1600200"/>
            <a:ext cx="497630" cy="640080"/>
          </a:xfrm>
          <a:prstGeom prst="rect">
            <a:avLst/>
          </a:prstGeom>
          <a:solidFill>
            <a:srgbClr val="3E5047"/>
          </a:solidFill>
          <a:ln>
            <a:solidFill>
              <a:srgbClr val="3E5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19136" y="1783080"/>
            <a:ext cx="31475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i="0">
                <a:solidFill>
                  <a:srgbClr val="E4D9C4"/>
                </a:solidFill>
                <a:latin typeface="Alibaba PuHui 3.0"/>
              </a:rPr>
              <a:t>MOVE 2.5h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425326" y="1600200"/>
            <a:ext cx="1080568" cy="640080"/>
          </a:xfrm>
          <a:prstGeom prst="rect">
            <a:avLst/>
          </a:prstGeom>
          <a:solidFill>
            <a:srgbClr val="242732"/>
          </a:solidFill>
          <a:ln>
            <a:solidFill>
              <a:srgbClr val="2427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6766" y="1783080"/>
            <a:ext cx="8976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i="0">
                <a:solidFill>
                  <a:srgbClr val="B8AC94"/>
                </a:solidFill>
                <a:latin typeface="Alibaba PuHui 3.0"/>
              </a:rPr>
              <a:t>OTHER 4h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2331720"/>
            <a:ext cx="47393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i="1">
                <a:solidFill>
                  <a:srgbClr val="8A8272"/>
                </a:solidFill>
                <a:latin typeface="Times New Roman"/>
              </a:rPr>
              <a:t>ONS UK Time Use Survey · 2022-23</a:t>
            </a:r>
            <a:r>
              <a:rPr sz="1000" b="1">
                <a:solidFill>
                  <a:srgbClr val="C9A96E"/>
                </a:solidFill>
                <a:latin typeface="Alibaba PuHui 3.0"/>
              </a:rPr>
              <a:t>           40% SITTING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2880360"/>
            <a:ext cx="4739335" cy="2971800"/>
          </a:xfrm>
          <a:prstGeom prst="rect">
            <a:avLst/>
          </a:prstGeom>
          <a:solidFill>
            <a:srgbClr val="1A1C26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040880" y="2916936"/>
            <a:ext cx="4190695" cy="12700"/>
          </a:xfrm>
          <a:prstGeom prst="rect">
            <a:avLst/>
          </a:prstGeom>
          <a:solidFill>
            <a:srgbClr val="E6C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0" y="3200400"/>
            <a:ext cx="139689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E4D9C4"/>
                </a:solidFill>
                <a:latin typeface="Alibaba PuHui 3.0"/>
              </a:rPr>
              <a:t>CARDIOVASCULAR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66160"/>
            <a:ext cx="139689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>
                <a:solidFill>
                  <a:srgbClr val="E6C68A"/>
                </a:solidFill>
                <a:latin typeface="Times New Roman"/>
              </a:rPr>
              <a:t>+147</a:t>
            </a:r>
            <a:r>
              <a:rPr sz="1800" b="1">
                <a:solidFill>
                  <a:srgbClr val="C9A96E"/>
                </a:solidFill>
                <a:latin typeface="Alibaba PuHui 3.0"/>
              </a:rPr>
              <a:t>% 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892040"/>
            <a:ext cx="139689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1">
                <a:solidFill>
                  <a:srgbClr val="8A8272"/>
                </a:solidFill>
                <a:latin typeface="Times New Roman"/>
              </a:rPr>
              <a:t>Wilmot et al, Diabetologia, 2012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37778" y="3200400"/>
            <a:ext cx="139689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E4D9C4"/>
                </a:solidFill>
                <a:latin typeface="Alibaba PuHui 3.0"/>
              </a:rPr>
              <a:t>TYPE 2 DIABETES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37778" y="3566160"/>
            <a:ext cx="139689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>
                <a:solidFill>
                  <a:srgbClr val="E6C68A"/>
                </a:solidFill>
                <a:latin typeface="Times New Roman"/>
              </a:rPr>
              <a:t>+112</a:t>
            </a:r>
            <a:r>
              <a:rPr sz="1800" b="1">
                <a:solidFill>
                  <a:srgbClr val="C9A96E"/>
                </a:solidFill>
                <a:latin typeface="Alibaba PuHui 3.0"/>
              </a:rPr>
              <a:t>%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7778" y="4892040"/>
            <a:ext cx="139689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1">
                <a:solidFill>
                  <a:srgbClr val="8A8272"/>
                </a:solidFill>
                <a:latin typeface="Times New Roman"/>
              </a:rPr>
              <a:t>meta-analysis, 794,577 people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34676" y="3200400"/>
            <a:ext cx="139689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E4D9C4"/>
                </a:solidFill>
                <a:latin typeface="Alibaba PuHui 3.0"/>
              </a:rPr>
              <a:t>ALL-CAUSE MORTALITY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34676" y="3566160"/>
            <a:ext cx="139689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>
                <a:solidFill>
                  <a:srgbClr val="E6C68A"/>
                </a:solidFill>
                <a:latin typeface="Times New Roman"/>
              </a:rPr>
              <a:t>+40</a:t>
            </a:r>
            <a:r>
              <a:rPr sz="1800" b="1">
                <a:solidFill>
                  <a:srgbClr val="C9A96E"/>
                </a:solidFill>
                <a:latin typeface="Alibaba PuHui 3.0"/>
              </a:rPr>
              <a:t>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34676" y="4572000"/>
            <a:ext cx="139689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i="0">
                <a:solidFill>
                  <a:srgbClr val="B8AC94"/>
                </a:solidFill>
                <a:latin typeface="Alibaba PuHui 3.0"/>
              </a:rPr>
              <a:t>AT 8+ HRS/DAY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34676" y="4892040"/>
            <a:ext cx="139689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1">
                <a:solidFill>
                  <a:srgbClr val="8A8272"/>
                </a:solidFill>
                <a:latin typeface="Times New Roman"/>
              </a:rPr>
              <a:t>Ekelund et al, The Lancet, 2016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8A82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6446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i="0">
                <a:solidFill>
                  <a:srgbClr val="8A8272"/>
                </a:solidFill>
                <a:latin typeface="Alibaba PuHui 3.0"/>
              </a:rPr>
              <a:t>SEDENTARY · CARDIOVASCULAR · METABOLIC · RESPIRATORY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77095" y="644652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8A8272"/>
                </a:solidFill>
                <a:latin typeface="Alibaba PuHui 3.0"/>
              </a:rPr>
              <a:t>01 / 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00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C9A96E"/>
                </a:solidFill>
                <a:latin typeface="Alibaba PuHui 3.0"/>
              </a:rPr>
              <a:t>CASE 02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48295" y="32004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>
                <a:solidFill>
                  <a:srgbClr val="F4ECE1"/>
                </a:solidFill>
                <a:latin typeface="Times New Roman"/>
              </a:rPr>
              <a:t>Resona   </a:t>
            </a:r>
            <a:r>
              <a:rPr sz="1000" b="1">
                <a:solidFill>
                  <a:srgbClr val="8A8272"/>
                </a:solidFill>
                <a:latin typeface="Alibaba PuHui 3.0"/>
              </a:rPr>
              <a:t>02 / 05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85800"/>
            <a:ext cx="10820095" cy="9525"/>
          </a:xfrm>
          <a:prstGeom prst="rect">
            <a:avLst/>
          </a:prstGeom>
          <a:solidFill>
            <a:srgbClr val="8A82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097280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9A96E"/>
                </a:solidFill>
                <a:latin typeface="Alibaba PuHui 3.0"/>
              </a:rPr>
              <a:t>THE MARKET IS MOVING. THE TOOLS ARE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1082009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>
                <a:solidFill>
                  <a:srgbClr val="F4ECE1"/>
                </a:solidFill>
                <a:latin typeface="Times New Roman"/>
              </a:rPr>
              <a:t>Wall Street is </a:t>
            </a:r>
            <a:r>
              <a:rPr sz="4800" i="1">
                <a:solidFill>
                  <a:srgbClr val="C9A96E"/>
                </a:solidFill>
                <a:latin typeface="Times New Roman"/>
              </a:rPr>
              <a:t>buying</a:t>
            </a:r>
            <a:r>
              <a:rPr sz="4800">
                <a:solidFill>
                  <a:srgbClr val="F4ECE1"/>
                </a:solidFill>
                <a:latin typeface="Times New Roman"/>
              </a:rPr>
              <a:t> wellness.</a:t>
            </a:r>
          </a:p>
          <a:p>
            <a:pPr algn="ctr"/>
            <a:r>
              <a:rPr sz="4800">
                <a:solidFill>
                  <a:srgbClr val="F4ECE1"/>
                </a:solidFill>
                <a:latin typeface="Times New Roman"/>
              </a:rPr>
              <a:t>The hardware is </a:t>
            </a:r>
            <a:r>
              <a:rPr sz="4800" i="1">
                <a:solidFill>
                  <a:srgbClr val="C9A96E"/>
                </a:solidFill>
                <a:latin typeface="Times New Roman"/>
              </a:rPr>
              <a:t>failing</a:t>
            </a:r>
            <a:r>
              <a:rPr sz="4800">
                <a:solidFill>
                  <a:srgbClr val="F4ECE1"/>
                </a:solidFill>
                <a:latin typeface="Times New Roman"/>
              </a:rPr>
              <a:t>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474720"/>
            <a:ext cx="5181447" cy="2606040"/>
          </a:xfrm>
          <a:prstGeom prst="rect">
            <a:avLst/>
          </a:prstGeom>
          <a:solidFill>
            <a:srgbClr val="12131A"/>
          </a:solidFill>
          <a:ln w="6350">
            <a:solidFill>
              <a:srgbClr val="8A8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474720"/>
            <a:ext cx="5181447" cy="254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65760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96E"/>
                </a:solidFill>
                <a:latin typeface="Alibaba PuHui 3.0"/>
              </a:rPr>
              <a:t>CASE A</a:t>
            </a:r>
            <a:r>
              <a:rPr sz="900" b="1">
                <a:solidFill>
                  <a:srgbClr val="7BC196"/>
                </a:solidFill>
                <a:latin typeface="Alibaba PuHui 3.0"/>
              </a:rPr>
              <a:t>       DEMAND VALIDATED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9776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1">
                <a:solidFill>
                  <a:srgbClr val="8A8272"/>
                </a:solidFill>
                <a:latin typeface="Times New Roman"/>
              </a:rPr>
              <a:t>Hedgeweek · July 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97680"/>
            <a:ext cx="4632807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 i="0">
                <a:solidFill>
                  <a:srgbClr val="F4ECE1"/>
                </a:solidFill>
                <a:latin typeface="Times New Roman"/>
              </a:rPr>
              <a:t>Citadel hires its first</a:t>
            </a:r>
          </a:p>
          <a:p>
            <a:r>
              <a:rPr sz="2200" b="0" i="0">
                <a:solidFill>
                  <a:srgbClr val="F4ECE1"/>
                </a:solidFill>
                <a:latin typeface="Times New Roman"/>
              </a:rPr>
              <a:t>Chief Medical Officer.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5166360"/>
            <a:ext cx="4632807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E4D9C4"/>
                </a:solidFill>
                <a:latin typeface="Alibaba PuHui 3.0"/>
              </a:rPr>
              <a:t>Ken Griffin appoints Dr David Stark (ex-Morgan Stanley, Harvard-trained pediatric neurologist) to drive peak performance across the firm. A signal the $5.7 trillion hedge fund industry treats employee health as alpha.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571500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1">
                <a:solidFill>
                  <a:srgbClr val="8A8272"/>
                </a:solidFill>
                <a:latin typeface="Times New Roman"/>
              </a:rPr>
              <a:t>First-ever CMO on Wall Street · July 2025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3474720"/>
            <a:ext cx="5181447" cy="2606040"/>
          </a:xfrm>
          <a:prstGeom prst="rect">
            <a:avLst/>
          </a:prstGeom>
          <a:solidFill>
            <a:srgbClr val="12131A"/>
          </a:solidFill>
          <a:ln w="6350">
            <a:solidFill>
              <a:srgbClr val="8A8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4447" y="3474720"/>
            <a:ext cx="5181447" cy="254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365760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96E"/>
                </a:solidFill>
                <a:latin typeface="Alibaba PuHui 3.0"/>
              </a:rPr>
              <a:t>CASE B</a:t>
            </a:r>
            <a:r>
              <a:rPr sz="900" b="1">
                <a:solidFill>
                  <a:srgbClr val="D18589"/>
                </a:solidFill>
                <a:latin typeface="Alibaba PuHui 3.0"/>
              </a:rPr>
              <a:t>       SUPPLY BROKEN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39776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1">
                <a:solidFill>
                  <a:srgbClr val="8A8272"/>
                </a:solidFill>
                <a:latin typeface="Times New Roman"/>
              </a:rPr>
              <a:t>Healthcare Innovation · Fitbit corporate study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8767" y="4297680"/>
            <a:ext cx="4632807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 i="0">
                <a:solidFill>
                  <a:srgbClr val="F4ECE1"/>
                </a:solidFill>
                <a:latin typeface="Times New Roman"/>
              </a:rPr>
              <a:t>The wearable gap.</a:t>
            </a:r>
          </a:p>
          <a:p>
            <a:r>
              <a:rPr sz="2200" b="0" i="0">
                <a:solidFill>
                  <a:srgbClr val="F4ECE1"/>
                </a:solidFill>
                <a:latin typeface="Times New Roman"/>
              </a:rPr>
              <a:t>£1,000 saved, then abandoned.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8767" y="5166360"/>
            <a:ext cx="4632807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E4D9C4"/>
                </a:solidFill>
                <a:latin typeface="Alibaba PuHui 3.0"/>
              </a:rPr>
              <a:t>Enrolled employees saved an average £1,000 per year in healthcare costs but 40% dropped off by month three. Fitbit corporate sales have declined every year since 2018. The demand is there. The hardware is not the answer.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8767" y="571500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1">
                <a:solidFill>
                  <a:srgbClr val="8A8272"/>
                </a:solidFill>
                <a:latin typeface="Times New Roman"/>
              </a:rPr>
              <a:t>Global corporate wellness market: $53 bn · mostly unloved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852160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1">
                <a:solidFill>
                  <a:srgbClr val="E4D9C4"/>
                </a:solidFill>
                <a:latin typeface="Times New Roman"/>
              </a:rPr>
              <a:t>No daily, private, hardware-free check-in for a whole team. Until now.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8A82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446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i="0">
                <a:solidFill>
                  <a:srgbClr val="8A8272"/>
                </a:solidFill>
                <a:latin typeface="Alibaba PuHui 3.0"/>
              </a:rPr>
              <a:t>Citadel · July 2025   ·   Fitbit corporate · Healthcare Innovation study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77095" y="644652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8A8272"/>
                </a:solidFill>
                <a:latin typeface="Alibaba PuHui 3.0"/>
              </a:rPr>
              <a:t>02 / 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00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C9A96E"/>
                </a:solidFill>
                <a:latin typeface="Alibaba PuHui 3.0"/>
              </a:rPr>
              <a:t>CASE 03 ·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48295" y="32004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>
                <a:solidFill>
                  <a:srgbClr val="F4ECE1"/>
                </a:solidFill>
                <a:latin typeface="Times New Roman"/>
              </a:rPr>
              <a:t>Resona   </a:t>
            </a:r>
            <a:r>
              <a:rPr sz="1000" b="1">
                <a:solidFill>
                  <a:srgbClr val="8A8272"/>
                </a:solidFill>
                <a:latin typeface="Alibaba PuHui 3.0"/>
              </a:rPr>
              <a:t>03 / 05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85800"/>
            <a:ext cx="10820095" cy="9525"/>
          </a:xfrm>
          <a:prstGeom prst="rect">
            <a:avLst/>
          </a:prstGeom>
          <a:solidFill>
            <a:srgbClr val="8A82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097280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9A96E"/>
                </a:solidFill>
                <a:latin typeface="Alibaba PuHui 3.0"/>
              </a:rPr>
              <a:t>THREE SIGNALS · ONE PHONE · TWO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1082009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400">
                <a:solidFill>
                  <a:srgbClr val="F4ECE1"/>
                </a:solidFill>
                <a:latin typeface="Times New Roman"/>
              </a:rPr>
              <a:t>Every phone is an </a:t>
            </a:r>
            <a:r>
              <a:rPr sz="5400" i="1">
                <a:solidFill>
                  <a:srgbClr val="C9A96E"/>
                </a:solidFill>
                <a:latin typeface="Times New Roman"/>
              </a:rPr>
              <a:t>instrument.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200400"/>
            <a:ext cx="3301898" cy="2743200"/>
          </a:xfrm>
          <a:prstGeom prst="rect">
            <a:avLst/>
          </a:prstGeom>
          <a:solidFill>
            <a:srgbClr val="1A1C26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429000"/>
            <a:ext cx="275325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i="1">
                <a:solidFill>
                  <a:srgbClr val="C9A96E"/>
                </a:solidFill>
                <a:latin typeface="Times New Roman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3298" y="35204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7BC196"/>
                </a:solidFill>
                <a:latin typeface="Alibaba PuHui 3.0"/>
              </a:rPr>
              <a:t>LIVE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160520"/>
            <a:ext cx="275325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0" i="0">
                <a:solidFill>
                  <a:srgbClr val="F4ECE1"/>
                </a:solidFill>
                <a:latin typeface="Times New Roman"/>
              </a:rPr>
              <a:t>Breath.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617720"/>
            <a:ext cx="27532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 i="0">
                <a:solidFill>
                  <a:srgbClr val="C9A96E"/>
                </a:solidFill>
                <a:latin typeface="Alibaba PuHui 3.0"/>
              </a:rPr>
              <a:t>Microphone · Acoustic spirometry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937760"/>
            <a:ext cx="275325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B8AC94"/>
                </a:solidFill>
                <a:latin typeface="Alibaba PuHui 3.0"/>
              </a:rPr>
              <a:t>FEV1, FVC, PEF. Forced exhalation analysed from turbulent flow noise. Normalised to Hankinson NHANES III predicted values.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5623560"/>
            <a:ext cx="27532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1">
                <a:solidFill>
                  <a:srgbClr val="8A8272"/>
                </a:solidFill>
                <a:latin typeface="Times New Roman"/>
              </a:rPr>
              <a:t>6s blow · 48 kHz PCM · on-device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44898" y="3200400"/>
            <a:ext cx="3301898" cy="2743200"/>
          </a:xfrm>
          <a:prstGeom prst="rect">
            <a:avLst/>
          </a:prstGeom>
          <a:solidFill>
            <a:srgbClr val="1A1C26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9218" y="3429000"/>
            <a:ext cx="275325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i="1">
                <a:solidFill>
                  <a:srgbClr val="C9A96E"/>
                </a:solidFill>
                <a:latin typeface="Times New Roman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2396" y="35204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7BC196"/>
                </a:solidFill>
                <a:latin typeface="Alibaba PuHui 3.0"/>
              </a:rPr>
              <a:t>LIVE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19218" y="4160520"/>
            <a:ext cx="275325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0" i="0">
                <a:solidFill>
                  <a:srgbClr val="F4ECE1"/>
                </a:solidFill>
                <a:latin typeface="Times New Roman"/>
              </a:rPr>
              <a:t>Motion.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19218" y="4617720"/>
            <a:ext cx="27532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 i="0">
                <a:solidFill>
                  <a:srgbClr val="C9A96E"/>
                </a:solidFill>
                <a:latin typeface="Alibaba PuHui 3.0"/>
              </a:rPr>
              <a:t>IMU · DeviceMotion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19218" y="4937760"/>
            <a:ext cx="275325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B8AC94"/>
                </a:solidFill>
                <a:latin typeface="Alibaba PuHui 3.0"/>
              </a:rPr>
              <a:t>Tremor from 10s stillness. Gait cadence and stride variability from 10-step walk. Standing-up streaks over time.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9218" y="5623560"/>
            <a:ext cx="27532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1">
                <a:solidFill>
                  <a:srgbClr val="8A8272"/>
                </a:solidFill>
                <a:latin typeface="Times New Roman"/>
              </a:rPr>
              <a:t>60 Hz accelerometer · FFT bands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03996" y="3200400"/>
            <a:ext cx="3301898" cy="2743200"/>
          </a:xfrm>
          <a:prstGeom prst="rect">
            <a:avLst/>
          </a:prstGeom>
          <a:solidFill>
            <a:srgbClr val="12131A"/>
          </a:solidFill>
          <a:ln w="6350">
            <a:solidFill>
              <a:srgbClr val="8A8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8316" y="3429000"/>
            <a:ext cx="275325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i="1">
                <a:solidFill>
                  <a:srgbClr val="8A8272"/>
                </a:solidFill>
                <a:latin typeface="Times New Roman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91494" y="35204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96E"/>
                </a:solidFill>
                <a:latin typeface="Alibaba PuHui 3.0"/>
              </a:rPr>
              <a:t>Q3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78316" y="4160520"/>
            <a:ext cx="275325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0" i="0">
                <a:solidFill>
                  <a:srgbClr val="F4ECE1"/>
                </a:solidFill>
                <a:latin typeface="Times New Roman"/>
              </a:rPr>
              <a:t>Heart.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8316" y="4617720"/>
            <a:ext cx="27532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 i="0">
                <a:solidFill>
                  <a:srgbClr val="C9A96E"/>
                </a:solidFill>
                <a:latin typeface="Alibaba PuHui 3.0"/>
              </a:rPr>
              <a:t>Front camera · rPPG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78316" y="4937760"/>
            <a:ext cx="275325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B8AC94"/>
                </a:solidFill>
                <a:latin typeface="Alibaba PuHui 3.0"/>
              </a:rPr>
              <a:t>Resting heart rate and HRV from 30s face video. Sub-pixel colour oscillations, bandpass 0.7 to 4 Hz.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8316" y="5623560"/>
            <a:ext cx="27532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1">
                <a:solidFill>
                  <a:srgbClr val="8A8272"/>
                </a:solidFill>
                <a:latin typeface="Times New Roman"/>
              </a:rPr>
              <a:t>MediaPipe ROI · Q3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852160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i="1">
                <a:solidFill>
                  <a:srgbClr val="C9A96E"/>
                </a:solidFill>
                <a:latin typeface="Times New Roman"/>
              </a:rPr>
              <a:t>All processing on-device. </a:t>
            </a:r>
            <a:r>
              <a:rPr sz="1800">
                <a:solidFill>
                  <a:srgbClr val="E4D9C4"/>
                </a:solidFill>
                <a:latin typeface="Times New Roman"/>
              </a:rPr>
              <a:t>No audio, no video, no GPS leaves the phone.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8A82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6446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i="0">
                <a:solidFill>
                  <a:srgbClr val="8A8272"/>
                </a:solidFill>
                <a:latin typeface="Alibaba PuHui 3.0"/>
              </a:rPr>
              <a:t>Module 01 · Breath ▸ Module 02 · Motion ▸ Module 03 · Heart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77095" y="644652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8A8272"/>
                </a:solidFill>
                <a:latin typeface="Alibaba PuHui 3.0"/>
              </a:rPr>
              <a:t>03 / 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00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C9A96E"/>
                </a:solidFill>
                <a:latin typeface="Alibaba PuHui 3.0"/>
              </a:rPr>
              <a:t>CASE 04 · 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48295" y="32004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>
                <a:solidFill>
                  <a:srgbClr val="F4ECE1"/>
                </a:solidFill>
                <a:latin typeface="Times New Roman"/>
              </a:rPr>
              <a:t>Resona   </a:t>
            </a:r>
            <a:r>
              <a:rPr sz="1000" b="1">
                <a:solidFill>
                  <a:srgbClr val="8A8272"/>
                </a:solidFill>
                <a:latin typeface="Alibaba PuHui 3.0"/>
              </a:rPr>
              <a:t>04 / 05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85800"/>
            <a:ext cx="10820095" cy="9525"/>
          </a:xfrm>
          <a:prstGeom prst="rect">
            <a:avLst/>
          </a:prstGeom>
          <a:solidFill>
            <a:srgbClr val="8A82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D18589"/>
                </a:solidFill>
                <a:latin typeface="Alibaba PuHui 3.0"/>
              </a:rPr>
              <a:t>● LIVE · ON THE PROJECTOR BESIDE 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64008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200">
                <a:solidFill>
                  <a:srgbClr val="F4ECE1"/>
                </a:solidFill>
                <a:latin typeface="Times New Roman"/>
              </a:rPr>
              <a:t>Scan. Blow. </a:t>
            </a:r>
            <a:r>
              <a:rPr sz="5200" i="1">
                <a:solidFill>
                  <a:srgbClr val="C9A96E"/>
                </a:solidFill>
                <a:latin typeface="Times New Roman"/>
              </a:rPr>
              <a:t>Fill the bar.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4048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 i="1">
                <a:solidFill>
                  <a:srgbClr val="C9A96E"/>
                </a:solidFill>
                <a:latin typeface="Times New Roman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3913632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0">
                <a:solidFill>
                  <a:srgbClr val="E4D9C4"/>
                </a:solidFill>
                <a:latin typeface="Alibaba PuHui 3.0"/>
              </a:rPr>
              <a:t>Scan the code with your phone camera. You land on an onboarding form.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34340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 i="1">
                <a:solidFill>
                  <a:srgbClr val="C9A96E"/>
                </a:solidFill>
                <a:latin typeface="Times New Roman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416552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0">
                <a:solidFill>
                  <a:srgbClr val="E4D9C4"/>
                </a:solidFill>
                <a:latin typeface="Alibaba PuHui 3.0"/>
              </a:rPr>
              <a:t>Enter a team code.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46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 i="1">
                <a:solidFill>
                  <a:srgbClr val="C9A96E"/>
                </a:solidFill>
                <a:latin typeface="Times New Roman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4919472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0">
                <a:solidFill>
                  <a:srgbClr val="E4D9C4"/>
                </a:solidFill>
                <a:latin typeface="Alibaba PuHui 3.0"/>
              </a:rPr>
              <a:t>Blow into the bottom of your phone for six seconds.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34924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 i="1">
                <a:solidFill>
                  <a:srgbClr val="C9A96E"/>
                </a:solidFill>
                <a:latin typeface="Times New Roman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5422392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 i="0">
                <a:solidFill>
                  <a:srgbClr val="E4D9C4"/>
                </a:solidFill>
                <a:latin typeface="Alibaba PuHui 3.0"/>
              </a:rPr>
              <a:t>See your numbers, your GP letter, your team on the board.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5943600"/>
            <a:ext cx="6400800" cy="502920"/>
          </a:xfrm>
          <a:prstGeom prst="rect">
            <a:avLst/>
          </a:prstGeom>
          <a:solidFill>
            <a:srgbClr val="12131A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6035040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1">
                <a:solidFill>
                  <a:srgbClr val="E6C68A"/>
                </a:solidFill>
                <a:latin typeface="Times New Roman"/>
              </a:rPr>
              <a:t>Fill the bar together. Top team takes the board.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53935" y="1325880"/>
            <a:ext cx="4480560" cy="4480560"/>
          </a:xfrm>
          <a:prstGeom prst="rect">
            <a:avLst/>
          </a:prstGeom>
          <a:solidFill>
            <a:srgbClr val="F4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2535" y="1554480"/>
            <a:ext cx="4023360" cy="40233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253935" y="585216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B8AC94"/>
                </a:solidFill>
                <a:latin typeface="Alibaba PuHui 3.0"/>
              </a:rPr>
              <a:t>mocha-cleat-chastity.ngrok-free.dev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8A82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446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i="0">
                <a:solidFill>
                  <a:srgbClr val="8A8272"/>
                </a:solidFill>
                <a:latin typeface="Alibaba PuHui 3.0"/>
              </a:rPr>
              <a:t>GP letter written live by GLM 5.1 · no audio leaves your phone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77095" y="644652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8A8272"/>
                </a:solidFill>
                <a:latin typeface="Alibaba PuHui 3.0"/>
              </a:rPr>
              <a:t>04 / 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00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C9A96E"/>
                </a:solidFill>
                <a:latin typeface="Alibaba PuHui 3.0"/>
              </a:rPr>
              <a:t>CASE 05 · BUSINESS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48295" y="32004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>
                <a:solidFill>
                  <a:srgbClr val="F4ECE1"/>
                </a:solidFill>
                <a:latin typeface="Times New Roman"/>
              </a:rPr>
              <a:t>Resona   </a:t>
            </a:r>
            <a:r>
              <a:rPr sz="1000" b="1">
                <a:solidFill>
                  <a:srgbClr val="8A8272"/>
                </a:solidFill>
                <a:latin typeface="Alibaba PuHui 3.0"/>
              </a:rPr>
              <a:t>05 / 05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85800"/>
            <a:ext cx="10820095" cy="9525"/>
          </a:xfrm>
          <a:prstGeom prst="rect">
            <a:avLst/>
          </a:prstGeom>
          <a:solidFill>
            <a:srgbClr val="8A82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09728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9A96E"/>
                </a:solidFill>
                <a:latin typeface="Alibaba PuHui 3.0"/>
              </a:rPr>
              <a:t>PER-SEAT SAAS · SLACK AND TEAMS DAY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1082009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200">
                <a:solidFill>
                  <a:srgbClr val="C9A96E"/>
                </a:solidFill>
                <a:latin typeface="Times New Roman"/>
              </a:rPr>
              <a:t>£3</a:t>
            </a:r>
            <a:r>
              <a:rPr sz="5400">
                <a:solidFill>
                  <a:srgbClr val="F4ECE1"/>
                </a:solidFill>
                <a:latin typeface="Times New Roman"/>
              </a:rPr>
              <a:t> a seat. Zero hardware.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8A8272"/>
                </a:solidFill>
                <a:latin typeface="Alibaba PuHui 3.0"/>
              </a:rPr>
              <a:t>PRICING AGAINST THE MARKET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611880"/>
            <a:ext cx="2453563" cy="1828800"/>
          </a:xfrm>
          <a:prstGeom prst="rect">
            <a:avLst/>
          </a:prstGeom>
          <a:solidFill>
            <a:srgbClr val="12131A"/>
          </a:solidFill>
          <a:ln w="6350">
            <a:solidFill>
              <a:srgbClr val="8A8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49040"/>
            <a:ext cx="208780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 i="0">
                <a:solidFill>
                  <a:srgbClr val="8A8272"/>
                </a:solidFill>
                <a:latin typeface="Alibaba PuHui 3.0"/>
              </a:rPr>
              <a:t>FITBIT FOR 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2087803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>
                <a:solidFill>
                  <a:srgbClr val="C9A96E"/>
                </a:solidFill>
                <a:latin typeface="Times New Roman"/>
              </a:rPr>
              <a:t>£</a:t>
            </a:r>
            <a:r>
              <a:rPr sz="5600">
                <a:solidFill>
                  <a:srgbClr val="F4ECE1"/>
                </a:solidFill>
                <a:latin typeface="Times New Roman"/>
              </a:rPr>
              <a:t>12</a:t>
            </a:r>
            <a:r>
              <a:rPr sz="1000" b="1">
                <a:solidFill>
                  <a:srgbClr val="8A8272"/>
                </a:solidFill>
                <a:latin typeface="Alibaba PuHui 3.0"/>
              </a:rPr>
              <a:t>  /SEAT/MO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029200"/>
            <a:ext cx="20878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D18589"/>
                </a:solidFill>
                <a:latin typeface="Alibaba PuHui 3.0"/>
              </a:rPr>
              <a:t>40% drop-off by month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67963" y="3611880"/>
            <a:ext cx="2453563" cy="1828800"/>
          </a:xfrm>
          <a:prstGeom prst="rect">
            <a:avLst/>
          </a:prstGeom>
          <a:solidFill>
            <a:srgbClr val="1A1C26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50843" y="3749040"/>
            <a:ext cx="208780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 i="0">
                <a:solidFill>
                  <a:srgbClr val="C9A96E"/>
                </a:solidFill>
                <a:latin typeface="Alibaba PuHui 3.0"/>
              </a:rPr>
              <a:t>RESONA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0843" y="4069080"/>
            <a:ext cx="2087803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>
                <a:solidFill>
                  <a:srgbClr val="C9A96E"/>
                </a:solidFill>
                <a:latin typeface="Times New Roman"/>
              </a:rPr>
              <a:t>£</a:t>
            </a:r>
            <a:r>
              <a:rPr sz="5600">
                <a:solidFill>
                  <a:srgbClr val="F4ECE1"/>
                </a:solidFill>
                <a:latin typeface="Times New Roman"/>
              </a:rPr>
              <a:t>3</a:t>
            </a:r>
            <a:r>
              <a:rPr sz="1000" b="1">
                <a:solidFill>
                  <a:srgbClr val="8A8272"/>
                </a:solidFill>
                <a:latin typeface="Alibaba PuHui 3.0"/>
              </a:rPr>
              <a:t>  /SEAT/MO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0843" y="5029200"/>
            <a:ext cx="20878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B8AC94"/>
                </a:solidFill>
                <a:latin typeface="Alibaba PuHui 3.0"/>
              </a:rPr>
              <a:t>Zero hardware · daily touchpoint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669280"/>
            <a:ext cx="5135727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E4D9C4"/>
                </a:solidFill>
                <a:latin typeface="Times New Roman"/>
              </a:rPr>
              <a:t>Quarter the cost. </a:t>
            </a:r>
            <a:r>
              <a:rPr sz="1800" i="1">
                <a:solidFill>
                  <a:srgbClr val="C9A96E"/>
                </a:solidFill>
                <a:latin typeface="Times New Roman"/>
              </a:rPr>
              <a:t>Four times the frequency.</a:t>
            </a:r>
          </a:p>
          <a:p>
            <a:r>
              <a:rPr sz="1400" i="1">
                <a:solidFill>
                  <a:srgbClr val="B8AC94"/>
                </a:solidFill>
                <a:latin typeface="Times New Roman"/>
              </a:rPr>
              <a:t>Slack nudge at 2pm: "Resona check-in due."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32004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8A8272"/>
                </a:solidFill>
                <a:latin typeface="Alibaba PuHui 3.0"/>
              </a:rPr>
              <a:t>SAME PHONE · MORE BODY SYSTEMS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0167" y="36118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7BC196"/>
                </a:solidFill>
                <a:latin typeface="Alibaba PuHui 3.0"/>
              </a:rPr>
              <a:t>TODAY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58887" y="3566160"/>
            <a:ext cx="193532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 i="0">
                <a:solidFill>
                  <a:srgbClr val="E6C68A"/>
                </a:solidFill>
                <a:latin typeface="Times New Roman"/>
              </a:rPr>
              <a:t>Breath + Motion.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77094" y="365760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8A8272"/>
                </a:solidFill>
                <a:latin typeface="Alibaba PuHui 3.0"/>
              </a:rPr>
              <a:t>Mic · IMU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70167" y="4114800"/>
            <a:ext cx="5135727" cy="9525"/>
          </a:xfrm>
          <a:prstGeom prst="rect">
            <a:avLst/>
          </a:prstGeom>
          <a:solidFill>
            <a:srgbClr val="8A82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420624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C9A96E"/>
                </a:solidFill>
                <a:latin typeface="Alibaba PuHui 3.0"/>
              </a:rPr>
              <a:t>Q3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58887" y="4160520"/>
            <a:ext cx="193532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 i="0">
                <a:solidFill>
                  <a:srgbClr val="F4ECE1"/>
                </a:solidFill>
                <a:latin typeface="Times New Roman"/>
              </a:rPr>
              <a:t>Heart.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77094" y="4251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8A8272"/>
                </a:solidFill>
                <a:latin typeface="Alibaba PuHui 3.0"/>
              </a:rPr>
              <a:t>Camera · rPPG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70167" y="4709160"/>
            <a:ext cx="5135727" cy="9525"/>
          </a:xfrm>
          <a:prstGeom prst="rect">
            <a:avLst/>
          </a:prstGeom>
          <a:solidFill>
            <a:srgbClr val="8A82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0167" y="480060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C9A96E"/>
                </a:solidFill>
                <a:latin typeface="Alibaba PuHui 3.0"/>
              </a:rPr>
              <a:t>Q4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58887" y="4754880"/>
            <a:ext cx="193532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 i="0">
                <a:solidFill>
                  <a:srgbClr val="F4ECE1"/>
                </a:solidFill>
                <a:latin typeface="Times New Roman"/>
              </a:rPr>
              <a:t>Sleep telemetry.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7094" y="484632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8A8272"/>
                </a:solidFill>
                <a:latin typeface="Alibaba PuHui 3.0"/>
              </a:rPr>
              <a:t>IMU · overnight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70167" y="5303520"/>
            <a:ext cx="5135727" cy="9525"/>
          </a:xfrm>
          <a:prstGeom prst="rect">
            <a:avLst/>
          </a:prstGeom>
          <a:solidFill>
            <a:srgbClr val="8A82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0167" y="53949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C9A96E"/>
                </a:solidFill>
                <a:latin typeface="Alibaba PuHui 3.0"/>
              </a:rPr>
              <a:t>2027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58887" y="5349240"/>
            <a:ext cx="193532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 i="0">
                <a:solidFill>
                  <a:srgbClr val="F4ECE1"/>
                </a:solidFill>
                <a:latin typeface="Times New Roman"/>
              </a:rPr>
              <a:t>Mental load.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77094" y="54406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8A8272"/>
                </a:solidFill>
                <a:latin typeface="Alibaba PuHui 3.0"/>
              </a:rPr>
              <a:t>Voice markers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5486400"/>
            <a:ext cx="10820095" cy="731520"/>
          </a:xfrm>
          <a:prstGeom prst="rect">
            <a:avLst/>
          </a:prstGeom>
          <a:solidFill>
            <a:srgbClr val="1A1C26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56235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C9A96E"/>
                </a:solidFill>
                <a:latin typeface="Alibaba PuHui 3.0"/>
              </a:rPr>
              <a:t>THE ASK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80360" y="5623560"/>
            <a:ext cx="8259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800" b="0" i="0">
                <a:solidFill>
                  <a:srgbClr val="F4ECE1"/>
                </a:solidFill>
                <a:latin typeface="Times New Roman"/>
              </a:rPr>
              <a:t>Watcha's enterprise network. Pilot with five portfolio companies, Monday.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8A82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6446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i="0">
                <a:solidFill>
                  <a:srgbClr val="8A8272"/>
                </a:solidFill>
                <a:latin typeface="Alibaba PuHui 3.0"/>
              </a:rPr>
              <a:t>Every body has a rhythm. Now every team has one too.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77095" y="644652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8A8272"/>
                </a:solidFill>
                <a:latin typeface="Alibaba PuHui 3.0"/>
              </a:rPr>
              <a:t>05 / 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