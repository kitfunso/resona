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685800" y="3200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CASE 01 · HOOK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7848295" y="32004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Resona   </a:t>
            </a:r>
            <a:r>
              <a:rPr b="1" lang="en-US" sz="10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01 / 0</a:t>
            </a:r>
            <a:r>
              <a:rPr b="1" lang="en-US" sz="1000">
                <a:solidFill>
                  <a:srgbClr val="8A8272"/>
                </a:solidFill>
              </a:rPr>
              <a:t>4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685800" y="68580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685800" y="118872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THE NUMBER YOU CANNOT SIT WITH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685800" y="1600200"/>
            <a:ext cx="5669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The average UK knowledge worker now spends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685763" y="2194570"/>
            <a:ext cx="56694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50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9.5</a:t>
            </a:r>
            <a:endParaRPr sz="5000"/>
          </a:p>
        </p:txBody>
      </p:sp>
      <p:sp>
        <p:nvSpPr>
          <p:cNvPr id="90" name="Google Shape;90;p13"/>
          <p:cNvSpPr txBox="1"/>
          <p:nvPr/>
        </p:nvSpPr>
        <p:spPr>
          <a:xfrm>
            <a:off x="685825" y="2964080"/>
            <a:ext cx="5669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HOURS PER DAY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685825" y="3329840"/>
            <a:ext cx="5669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sitting at a desk.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685700" y="3832755"/>
            <a:ext cx="5669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100">
                <a:solidFill>
                  <a:srgbClr val="E6C6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More than they sleep.</a:t>
            </a:r>
            <a:endParaRPr sz="700"/>
          </a:p>
        </p:txBody>
      </p:sp>
      <p:sp>
        <p:nvSpPr>
          <p:cNvPr id="93" name="Google Shape;93;p13"/>
          <p:cNvSpPr/>
          <p:nvPr/>
        </p:nvSpPr>
        <p:spPr>
          <a:xfrm>
            <a:off x="685825" y="3832754"/>
            <a:ext cx="25500" cy="4311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6766560" y="1188720"/>
            <a:ext cx="473933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A WEEKDAY, SAMPLED</a:t>
            </a:r>
            <a:endParaRPr/>
          </a:p>
        </p:txBody>
      </p:sp>
      <p:sp>
        <p:nvSpPr>
          <p:cNvPr id="95" name="Google Shape;95;p13"/>
          <p:cNvSpPr/>
          <p:nvPr/>
        </p:nvSpPr>
        <p:spPr>
          <a:xfrm>
            <a:off x="6766560" y="1600200"/>
            <a:ext cx="1265402" cy="640080"/>
          </a:xfrm>
          <a:prstGeom prst="rect">
            <a:avLst/>
          </a:prstGeom>
          <a:solidFill>
            <a:srgbClr val="242732"/>
          </a:solidFill>
          <a:ln cap="flat" cmpd="sng" w="9525">
            <a:solidFill>
              <a:srgbClr val="2427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6858000" y="1783080"/>
            <a:ext cx="108252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SLEEP 8h</a:t>
            </a:r>
            <a:endParaRPr/>
          </a:p>
        </p:txBody>
      </p:sp>
      <p:sp>
        <p:nvSpPr>
          <p:cNvPr id="97" name="Google Shape;97;p13"/>
          <p:cNvSpPr/>
          <p:nvPr/>
        </p:nvSpPr>
        <p:spPr>
          <a:xfrm>
            <a:off x="8031962" y="1600200"/>
            <a:ext cx="1895734" cy="640080"/>
          </a:xfrm>
          <a:prstGeom prst="rect">
            <a:avLst/>
          </a:prstGeom>
          <a:solidFill>
            <a:srgbClr val="C9A96E"/>
          </a:solidFill>
          <a:ln cap="flat" cmpd="sng" w="9525">
            <a:solidFill>
              <a:srgbClr val="C9A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8123402" y="1783080"/>
            <a:ext cx="17128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A0B10"/>
                </a:solidFill>
                <a:latin typeface="Arial"/>
                <a:ea typeface="Arial"/>
                <a:cs typeface="Arial"/>
                <a:sym typeface="Arial"/>
              </a:rPr>
              <a:t>SITTING 9.5h</a:t>
            </a:r>
            <a:endParaRPr/>
          </a:p>
        </p:txBody>
      </p:sp>
      <p:sp>
        <p:nvSpPr>
          <p:cNvPr id="99" name="Google Shape;99;p13"/>
          <p:cNvSpPr/>
          <p:nvPr/>
        </p:nvSpPr>
        <p:spPr>
          <a:xfrm>
            <a:off x="9927696" y="1600200"/>
            <a:ext cx="497630" cy="640080"/>
          </a:xfrm>
          <a:prstGeom prst="rect">
            <a:avLst/>
          </a:prstGeom>
          <a:solidFill>
            <a:srgbClr val="3E5047"/>
          </a:solidFill>
          <a:ln cap="flat" cmpd="sng" w="9525">
            <a:solidFill>
              <a:srgbClr val="3E50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0019123" y="1783075"/>
            <a:ext cx="406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MOVE 2.5h</a:t>
            </a:r>
            <a:endParaRPr/>
          </a:p>
        </p:txBody>
      </p:sp>
      <p:sp>
        <p:nvSpPr>
          <p:cNvPr id="101" name="Google Shape;101;p13"/>
          <p:cNvSpPr/>
          <p:nvPr/>
        </p:nvSpPr>
        <p:spPr>
          <a:xfrm>
            <a:off x="10425326" y="1600200"/>
            <a:ext cx="1080568" cy="640080"/>
          </a:xfrm>
          <a:prstGeom prst="rect">
            <a:avLst/>
          </a:prstGeom>
          <a:solidFill>
            <a:srgbClr val="242732"/>
          </a:solidFill>
          <a:ln cap="flat" cmpd="sng" w="9525">
            <a:solidFill>
              <a:srgbClr val="2427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3"/>
          <p:cNvSpPr txBox="1"/>
          <p:nvPr/>
        </p:nvSpPr>
        <p:spPr>
          <a:xfrm>
            <a:off x="10516766" y="1783080"/>
            <a:ext cx="89768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OTHER 4h</a:t>
            </a:r>
            <a:endParaRPr/>
          </a:p>
        </p:txBody>
      </p:sp>
      <p:sp>
        <p:nvSpPr>
          <p:cNvPr id="103" name="Google Shape;103;p13"/>
          <p:cNvSpPr txBox="1"/>
          <p:nvPr/>
        </p:nvSpPr>
        <p:spPr>
          <a:xfrm>
            <a:off x="6766560" y="2331720"/>
            <a:ext cx="4739335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0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ONS UK Time Use Survey · 2022-23</a:t>
            </a:r>
            <a:r>
              <a:rPr b="1" lang="en-US" sz="1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           40% SITTING</a:t>
            </a:r>
            <a:endParaRPr/>
          </a:p>
        </p:txBody>
      </p:sp>
      <p:sp>
        <p:nvSpPr>
          <p:cNvPr id="104" name="Google Shape;104;p13"/>
          <p:cNvSpPr/>
          <p:nvPr/>
        </p:nvSpPr>
        <p:spPr>
          <a:xfrm>
            <a:off x="6766550" y="2880354"/>
            <a:ext cx="4739400" cy="1867500"/>
          </a:xfrm>
          <a:prstGeom prst="rect">
            <a:avLst/>
          </a:prstGeom>
          <a:solidFill>
            <a:srgbClr val="1A1C26"/>
          </a:solidFill>
          <a:ln cap="flat" cmpd="sng" w="12700">
            <a:solidFill>
              <a:srgbClr val="C9A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3"/>
          <p:cNvSpPr/>
          <p:nvPr/>
        </p:nvSpPr>
        <p:spPr>
          <a:xfrm>
            <a:off x="7040880" y="2916936"/>
            <a:ext cx="4190695" cy="12700"/>
          </a:xfrm>
          <a:prstGeom prst="rect">
            <a:avLst/>
          </a:prstGeom>
          <a:solidFill>
            <a:srgbClr val="E6C6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3"/>
          <p:cNvSpPr txBox="1"/>
          <p:nvPr/>
        </p:nvSpPr>
        <p:spPr>
          <a:xfrm>
            <a:off x="7040880" y="3200400"/>
            <a:ext cx="139689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CARDIOVASCULAR</a:t>
            </a:r>
            <a:endParaRPr/>
          </a:p>
        </p:txBody>
      </p:sp>
      <p:sp>
        <p:nvSpPr>
          <p:cNvPr id="107" name="Google Shape;107;p13"/>
          <p:cNvSpPr txBox="1"/>
          <p:nvPr/>
        </p:nvSpPr>
        <p:spPr>
          <a:xfrm>
            <a:off x="7040880" y="3566160"/>
            <a:ext cx="13968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E6C6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+147</a:t>
            </a:r>
            <a:r>
              <a:rPr b="1" lang="en-US" sz="3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% </a:t>
            </a:r>
            <a:r>
              <a:rPr b="1" lang="en-US" sz="25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RISK</a:t>
            </a:r>
            <a:endParaRPr sz="2500"/>
          </a:p>
        </p:txBody>
      </p:sp>
      <p:sp>
        <p:nvSpPr>
          <p:cNvPr id="108" name="Google Shape;108;p13"/>
          <p:cNvSpPr txBox="1"/>
          <p:nvPr/>
        </p:nvSpPr>
        <p:spPr>
          <a:xfrm>
            <a:off x="7040880" y="4487640"/>
            <a:ext cx="1396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Wilmot et al, Diabetologia, 2012</a:t>
            </a:r>
            <a:endParaRPr sz="1200"/>
          </a:p>
        </p:txBody>
      </p:sp>
      <p:sp>
        <p:nvSpPr>
          <p:cNvPr id="109" name="Google Shape;109;p13"/>
          <p:cNvSpPr txBox="1"/>
          <p:nvPr/>
        </p:nvSpPr>
        <p:spPr>
          <a:xfrm>
            <a:off x="8437778" y="3200400"/>
            <a:ext cx="139689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TYPE 2 DIABETES</a:t>
            </a:r>
            <a:endParaRPr/>
          </a:p>
        </p:txBody>
      </p:sp>
      <p:sp>
        <p:nvSpPr>
          <p:cNvPr id="110" name="Google Shape;110;p13"/>
          <p:cNvSpPr txBox="1"/>
          <p:nvPr/>
        </p:nvSpPr>
        <p:spPr>
          <a:xfrm>
            <a:off x="8437778" y="3566160"/>
            <a:ext cx="13968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E6C6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+112</a:t>
            </a:r>
            <a:r>
              <a:rPr b="1" lang="en-US" sz="3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% </a:t>
            </a:r>
            <a:r>
              <a:rPr b="1" lang="en-US" sz="25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RISK</a:t>
            </a:r>
            <a:endParaRPr sz="2500"/>
          </a:p>
        </p:txBody>
      </p:sp>
      <p:sp>
        <p:nvSpPr>
          <p:cNvPr id="111" name="Google Shape;111;p13"/>
          <p:cNvSpPr txBox="1"/>
          <p:nvPr/>
        </p:nvSpPr>
        <p:spPr>
          <a:xfrm>
            <a:off x="8437778" y="4487640"/>
            <a:ext cx="1396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meta-analysis, 794,577 people</a:t>
            </a:r>
            <a:endParaRPr sz="1200"/>
          </a:p>
        </p:txBody>
      </p:sp>
      <p:sp>
        <p:nvSpPr>
          <p:cNvPr id="112" name="Google Shape;112;p13"/>
          <p:cNvSpPr txBox="1"/>
          <p:nvPr/>
        </p:nvSpPr>
        <p:spPr>
          <a:xfrm>
            <a:off x="9834676" y="3200400"/>
            <a:ext cx="139689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ALL-CAUSE MORTALITY</a:t>
            </a:r>
            <a:endParaRPr/>
          </a:p>
        </p:txBody>
      </p:sp>
      <p:sp>
        <p:nvSpPr>
          <p:cNvPr id="113" name="Google Shape;113;p13"/>
          <p:cNvSpPr txBox="1"/>
          <p:nvPr/>
        </p:nvSpPr>
        <p:spPr>
          <a:xfrm>
            <a:off x="9834676" y="3566160"/>
            <a:ext cx="1396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E6C6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+40</a:t>
            </a:r>
            <a:r>
              <a:rPr b="1" lang="en-US" sz="3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sz="3000"/>
          </a:p>
        </p:txBody>
      </p:sp>
      <p:sp>
        <p:nvSpPr>
          <p:cNvPr id="114" name="Google Shape;114;p13"/>
          <p:cNvSpPr txBox="1"/>
          <p:nvPr/>
        </p:nvSpPr>
        <p:spPr>
          <a:xfrm>
            <a:off x="9834676" y="4027850"/>
            <a:ext cx="1396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AT 8+ HRS/DAY</a:t>
            </a:r>
            <a:endParaRPr/>
          </a:p>
        </p:txBody>
      </p:sp>
      <p:sp>
        <p:nvSpPr>
          <p:cNvPr id="115" name="Google Shape;115;p13"/>
          <p:cNvSpPr txBox="1"/>
          <p:nvPr/>
        </p:nvSpPr>
        <p:spPr>
          <a:xfrm>
            <a:off x="9834676" y="4487628"/>
            <a:ext cx="1396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Ekelund et al, The Lancet, 2016</a:t>
            </a:r>
            <a:endParaRPr sz="1200"/>
          </a:p>
        </p:txBody>
      </p:sp>
      <p:sp>
        <p:nvSpPr>
          <p:cNvPr id="116" name="Google Shape;116;p13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3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SEDENTARY · CARDIOVASCULAR · METABOLIC · RESPIRATORY</a:t>
            </a:r>
            <a:endParaRPr/>
          </a:p>
        </p:txBody>
      </p:sp>
      <p:sp>
        <p:nvSpPr>
          <p:cNvPr id="118" name="Google Shape;118;p13"/>
          <p:cNvSpPr txBox="1"/>
          <p:nvPr/>
        </p:nvSpPr>
        <p:spPr>
          <a:xfrm>
            <a:off x="9677095" y="644652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01 / 05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C26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 txBox="1"/>
          <p:nvPr/>
        </p:nvSpPr>
        <p:spPr>
          <a:xfrm>
            <a:off x="685800" y="3200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CASE 02 · PROBLEM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7848295" y="32004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Resona   </a:t>
            </a:r>
            <a:r>
              <a:rPr b="1" lang="en-US" sz="10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02 / 0</a:t>
            </a:r>
            <a:r>
              <a:rPr b="1" lang="en-US" sz="1000">
                <a:solidFill>
                  <a:srgbClr val="8A8272"/>
                </a:solidFill>
              </a:rPr>
              <a:t>4</a:t>
            </a:r>
            <a:endParaRPr/>
          </a:p>
        </p:txBody>
      </p:sp>
      <p:sp>
        <p:nvSpPr>
          <p:cNvPr id="125" name="Google Shape;125;p14"/>
          <p:cNvSpPr/>
          <p:nvPr/>
        </p:nvSpPr>
        <p:spPr>
          <a:xfrm>
            <a:off x="685800" y="68580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4"/>
          <p:cNvSpPr txBox="1"/>
          <p:nvPr/>
        </p:nvSpPr>
        <p:spPr>
          <a:xfrm>
            <a:off x="685800" y="1097280"/>
            <a:ext cx="108200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THE MARKET IS MOVING. THE TOOLS ARE NOT.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685788" y="1358813"/>
            <a:ext cx="10820100" cy="23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0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 supporting the </a:t>
            </a:r>
            <a:r>
              <a:rPr lang="en-US" sz="30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improvement</a:t>
            </a:r>
            <a:r>
              <a:rPr lang="en-US" sz="30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of employees’ health and wellness directly, businesses are able to be more productive,, less absent, and longer-tenured. The economics are settled. The delivery is not.</a:t>
            </a:r>
            <a:endParaRPr sz="3000">
              <a:solidFill>
                <a:srgbClr val="F4ECE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000">
              <a:solidFill>
                <a:srgbClr val="F4ECE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rgbClr val="F4ECE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8" name="Google Shape;128;p14"/>
          <p:cNvSpPr/>
          <p:nvPr/>
        </p:nvSpPr>
        <p:spPr>
          <a:xfrm>
            <a:off x="685800" y="3046445"/>
            <a:ext cx="5181300" cy="2606100"/>
          </a:xfrm>
          <a:prstGeom prst="rect">
            <a:avLst/>
          </a:prstGeom>
          <a:solidFill>
            <a:srgbClr val="12131A"/>
          </a:solidFill>
          <a:ln cap="flat" cmpd="sng" w="9525">
            <a:solidFill>
              <a:srgbClr val="8A827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4"/>
          <p:cNvSpPr/>
          <p:nvPr/>
        </p:nvSpPr>
        <p:spPr>
          <a:xfrm>
            <a:off x="685800" y="3046445"/>
            <a:ext cx="5181300" cy="255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4"/>
          <p:cNvSpPr txBox="1"/>
          <p:nvPr/>
        </p:nvSpPr>
        <p:spPr>
          <a:xfrm>
            <a:off x="960120" y="3229325"/>
            <a:ext cx="46329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CASE A</a:t>
            </a:r>
            <a:r>
              <a:rPr b="1" lang="en-US" sz="900">
                <a:solidFill>
                  <a:srgbClr val="7BC196"/>
                </a:solidFill>
                <a:latin typeface="Arial"/>
                <a:ea typeface="Arial"/>
                <a:cs typeface="Arial"/>
                <a:sym typeface="Arial"/>
              </a:rPr>
              <a:t>       DEMAND VALIDATED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>
            <a:off x="960120" y="3549365"/>
            <a:ext cx="4632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Hedgeweek · July 2025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960120" y="3869405"/>
            <a:ext cx="46329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Citadel hires its first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Chief Medical Officer.</a:t>
            </a:r>
            <a:endParaRPr/>
          </a:p>
        </p:txBody>
      </p:sp>
      <p:sp>
        <p:nvSpPr>
          <p:cNvPr id="133" name="Google Shape;133;p14"/>
          <p:cNvSpPr txBox="1"/>
          <p:nvPr/>
        </p:nvSpPr>
        <p:spPr>
          <a:xfrm>
            <a:off x="960120" y="4738085"/>
            <a:ext cx="4632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Ken Griffin appoints Dr David Stark (ex-Morgan Stanley, Harvard-trained pediatric neurologist) to drive peak performance across the firm. A signal the $5.7 trillion hedge fund industry treats employee health as alpha.</a:t>
            </a:r>
            <a:endParaRPr/>
          </a:p>
        </p:txBody>
      </p:sp>
      <p:sp>
        <p:nvSpPr>
          <p:cNvPr id="134" name="Google Shape;134;p14"/>
          <p:cNvSpPr txBox="1"/>
          <p:nvPr/>
        </p:nvSpPr>
        <p:spPr>
          <a:xfrm>
            <a:off x="960120" y="5286725"/>
            <a:ext cx="4632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First-ever CMO on Wall Street · July 2025</a:t>
            </a:r>
            <a:endParaRPr/>
          </a:p>
        </p:txBody>
      </p:sp>
      <p:sp>
        <p:nvSpPr>
          <p:cNvPr id="135" name="Google Shape;135;p14"/>
          <p:cNvSpPr/>
          <p:nvPr/>
        </p:nvSpPr>
        <p:spPr>
          <a:xfrm>
            <a:off x="6324447" y="3046445"/>
            <a:ext cx="5181300" cy="2606100"/>
          </a:xfrm>
          <a:prstGeom prst="rect">
            <a:avLst/>
          </a:prstGeom>
          <a:solidFill>
            <a:srgbClr val="12131A"/>
          </a:solidFill>
          <a:ln cap="flat" cmpd="sng" w="9525">
            <a:solidFill>
              <a:srgbClr val="8A827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4"/>
          <p:cNvSpPr/>
          <p:nvPr/>
        </p:nvSpPr>
        <p:spPr>
          <a:xfrm>
            <a:off x="6324447" y="3046445"/>
            <a:ext cx="5181300" cy="255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4"/>
          <p:cNvSpPr txBox="1"/>
          <p:nvPr/>
        </p:nvSpPr>
        <p:spPr>
          <a:xfrm>
            <a:off x="6598767" y="3229325"/>
            <a:ext cx="46329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CASE B</a:t>
            </a:r>
            <a:r>
              <a:rPr b="1" lang="en-US" sz="900">
                <a:solidFill>
                  <a:srgbClr val="D18589"/>
                </a:solidFill>
                <a:latin typeface="Arial"/>
                <a:ea typeface="Arial"/>
                <a:cs typeface="Arial"/>
                <a:sym typeface="Arial"/>
              </a:rPr>
              <a:t>       SUPPLY BROKEN</a:t>
            </a:r>
            <a:endParaRPr/>
          </a:p>
        </p:txBody>
      </p:sp>
      <p:sp>
        <p:nvSpPr>
          <p:cNvPr id="138" name="Google Shape;138;p14"/>
          <p:cNvSpPr txBox="1"/>
          <p:nvPr/>
        </p:nvSpPr>
        <p:spPr>
          <a:xfrm>
            <a:off x="6598767" y="3549365"/>
            <a:ext cx="4632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Healthcare Innovation · Fitbit corporate study</a:t>
            </a:r>
            <a:endParaRPr/>
          </a:p>
        </p:txBody>
      </p:sp>
      <p:sp>
        <p:nvSpPr>
          <p:cNvPr id="139" name="Google Shape;139;p14"/>
          <p:cNvSpPr txBox="1"/>
          <p:nvPr/>
        </p:nvSpPr>
        <p:spPr>
          <a:xfrm>
            <a:off x="6598767" y="3869405"/>
            <a:ext cx="46329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wearable gap.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£1,000 saved, then abandoned.</a:t>
            </a:r>
            <a:endParaRPr/>
          </a:p>
        </p:txBody>
      </p:sp>
      <p:sp>
        <p:nvSpPr>
          <p:cNvPr id="140" name="Google Shape;140;p14"/>
          <p:cNvSpPr txBox="1"/>
          <p:nvPr/>
        </p:nvSpPr>
        <p:spPr>
          <a:xfrm>
            <a:off x="6598767" y="4738085"/>
            <a:ext cx="46329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Enrolled employees saved an average £1,000 per year in healthcare costs but 40% dropped off by month three. Fitbit corporate sales have declined every year since 2018. The demand is there. The hardware is not the answer.</a:t>
            </a:r>
            <a:endParaRPr/>
          </a:p>
        </p:txBody>
      </p:sp>
      <p:sp>
        <p:nvSpPr>
          <p:cNvPr id="141" name="Google Shape;141;p14"/>
          <p:cNvSpPr txBox="1"/>
          <p:nvPr/>
        </p:nvSpPr>
        <p:spPr>
          <a:xfrm>
            <a:off x="6598767" y="5427363"/>
            <a:ext cx="4632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Global corporate wellness market: $53 bn · mostly unloved</a:t>
            </a:r>
            <a:endParaRPr/>
          </a:p>
        </p:txBody>
      </p:sp>
      <p:sp>
        <p:nvSpPr>
          <p:cNvPr id="142" name="Google Shape;142;p14"/>
          <p:cNvSpPr txBox="1"/>
          <p:nvPr/>
        </p:nvSpPr>
        <p:spPr>
          <a:xfrm>
            <a:off x="619350" y="5865223"/>
            <a:ext cx="10820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>
                <a:solidFill>
                  <a:srgbClr val="E4D9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daily, private, hardware-free check-in for a whole team. Until now.</a:t>
            </a:r>
            <a:endParaRPr/>
          </a:p>
        </p:txBody>
      </p:sp>
      <p:sp>
        <p:nvSpPr>
          <p:cNvPr id="143" name="Google Shape;143;p14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4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Citadel · July 2025   ·   Fitbit corporate · Healthcare Innovation study</a:t>
            </a:r>
            <a:endParaRPr/>
          </a:p>
        </p:txBody>
      </p:sp>
      <p:sp>
        <p:nvSpPr>
          <p:cNvPr id="145" name="Google Shape;145;p14"/>
          <p:cNvSpPr txBox="1"/>
          <p:nvPr/>
        </p:nvSpPr>
        <p:spPr>
          <a:xfrm>
            <a:off x="9677095" y="644652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02 / 05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A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5"/>
          <p:cNvSpPr txBox="1"/>
          <p:nvPr/>
        </p:nvSpPr>
        <p:spPr>
          <a:xfrm>
            <a:off x="685800" y="3200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CASE 03 · SOLUTION</a:t>
            </a:r>
            <a:endParaRPr/>
          </a:p>
        </p:txBody>
      </p:sp>
      <p:sp>
        <p:nvSpPr>
          <p:cNvPr id="151" name="Google Shape;151;p15"/>
          <p:cNvSpPr txBox="1"/>
          <p:nvPr/>
        </p:nvSpPr>
        <p:spPr>
          <a:xfrm>
            <a:off x="7848295" y="32004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Resona   </a:t>
            </a:r>
            <a:r>
              <a:rPr b="1" lang="en-US" sz="10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03 / 0</a:t>
            </a:r>
            <a:r>
              <a:rPr b="1" lang="en-US" sz="1000">
                <a:solidFill>
                  <a:srgbClr val="8A8272"/>
                </a:solidFill>
              </a:rPr>
              <a:t>4</a:t>
            </a:r>
            <a:endParaRPr/>
          </a:p>
        </p:txBody>
      </p:sp>
      <p:sp>
        <p:nvSpPr>
          <p:cNvPr id="152" name="Google Shape;152;p15"/>
          <p:cNvSpPr/>
          <p:nvPr/>
        </p:nvSpPr>
        <p:spPr>
          <a:xfrm>
            <a:off x="685800" y="68580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5"/>
          <p:cNvSpPr txBox="1"/>
          <p:nvPr/>
        </p:nvSpPr>
        <p:spPr>
          <a:xfrm>
            <a:off x="685800" y="1097280"/>
            <a:ext cx="108200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THREE SIGNALS · ONE PHONE · TWO MINUTES</a:t>
            </a:r>
            <a:endParaRPr/>
          </a:p>
        </p:txBody>
      </p:sp>
      <p:sp>
        <p:nvSpPr>
          <p:cNvPr id="154" name="Google Shape;154;p15"/>
          <p:cNvSpPr txBox="1"/>
          <p:nvPr/>
        </p:nvSpPr>
        <p:spPr>
          <a:xfrm>
            <a:off x="685800" y="1554480"/>
            <a:ext cx="108200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Every phone is an </a:t>
            </a:r>
            <a:r>
              <a:rPr i="1" lang="en-US" sz="54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instrument.</a:t>
            </a:r>
            <a:endParaRPr/>
          </a:p>
        </p:txBody>
      </p:sp>
      <p:sp>
        <p:nvSpPr>
          <p:cNvPr id="155" name="Google Shape;155;p15"/>
          <p:cNvSpPr/>
          <p:nvPr/>
        </p:nvSpPr>
        <p:spPr>
          <a:xfrm>
            <a:off x="685800" y="2651750"/>
            <a:ext cx="3301800" cy="2743200"/>
          </a:xfrm>
          <a:prstGeom prst="rect">
            <a:avLst/>
          </a:prstGeom>
          <a:solidFill>
            <a:srgbClr val="1A1C26"/>
          </a:solidFill>
          <a:ln cap="flat" cmpd="sng" w="12700">
            <a:solidFill>
              <a:srgbClr val="C9A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5"/>
          <p:cNvSpPr txBox="1"/>
          <p:nvPr/>
        </p:nvSpPr>
        <p:spPr>
          <a:xfrm>
            <a:off x="960120" y="2880350"/>
            <a:ext cx="2753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40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01</a:t>
            </a:r>
            <a:endParaRPr/>
          </a:p>
        </p:txBody>
      </p:sp>
      <p:sp>
        <p:nvSpPr>
          <p:cNvPr id="157" name="Google Shape;157;p15"/>
          <p:cNvSpPr txBox="1"/>
          <p:nvPr/>
        </p:nvSpPr>
        <p:spPr>
          <a:xfrm>
            <a:off x="3073298" y="2971790"/>
            <a:ext cx="731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7BC196"/>
                </a:solidFill>
                <a:latin typeface="Arial"/>
                <a:ea typeface="Arial"/>
                <a:cs typeface="Arial"/>
                <a:sym typeface="Arial"/>
              </a:rPr>
              <a:t>LIVE</a:t>
            </a:r>
            <a:endParaRPr/>
          </a:p>
        </p:txBody>
      </p:sp>
      <p:sp>
        <p:nvSpPr>
          <p:cNvPr id="158" name="Google Shape;158;p15"/>
          <p:cNvSpPr txBox="1"/>
          <p:nvPr/>
        </p:nvSpPr>
        <p:spPr>
          <a:xfrm>
            <a:off x="960120" y="3611870"/>
            <a:ext cx="275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Breath.</a:t>
            </a:r>
            <a:endParaRPr/>
          </a:p>
        </p:txBody>
      </p:sp>
      <p:sp>
        <p:nvSpPr>
          <p:cNvPr id="159" name="Google Shape;159;p15"/>
          <p:cNvSpPr txBox="1"/>
          <p:nvPr/>
        </p:nvSpPr>
        <p:spPr>
          <a:xfrm>
            <a:off x="960120" y="4069070"/>
            <a:ext cx="2753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Microphone · Acoustic spirometry</a:t>
            </a:r>
            <a:endParaRPr/>
          </a:p>
        </p:txBody>
      </p:sp>
      <p:sp>
        <p:nvSpPr>
          <p:cNvPr id="160" name="Google Shape;160;p15"/>
          <p:cNvSpPr txBox="1"/>
          <p:nvPr/>
        </p:nvSpPr>
        <p:spPr>
          <a:xfrm>
            <a:off x="960120" y="4389110"/>
            <a:ext cx="27534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FEV1, FVC, PEF. Forced exhalation analysed from turbulent flow noise. Normalised to Hankinson NHANES III predicted values.</a:t>
            </a:r>
            <a:endParaRPr/>
          </a:p>
        </p:txBody>
      </p:sp>
      <p:sp>
        <p:nvSpPr>
          <p:cNvPr id="161" name="Google Shape;161;p15"/>
          <p:cNvSpPr txBox="1"/>
          <p:nvPr/>
        </p:nvSpPr>
        <p:spPr>
          <a:xfrm>
            <a:off x="960120" y="5074910"/>
            <a:ext cx="2753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6s blow · 48 kHz PCM · on-device</a:t>
            </a:r>
            <a:endParaRPr/>
          </a:p>
        </p:txBody>
      </p:sp>
      <p:sp>
        <p:nvSpPr>
          <p:cNvPr id="162" name="Google Shape;162;p15"/>
          <p:cNvSpPr/>
          <p:nvPr/>
        </p:nvSpPr>
        <p:spPr>
          <a:xfrm>
            <a:off x="4444898" y="2651750"/>
            <a:ext cx="3301800" cy="2743200"/>
          </a:xfrm>
          <a:prstGeom prst="rect">
            <a:avLst/>
          </a:prstGeom>
          <a:solidFill>
            <a:srgbClr val="1A1C26"/>
          </a:solidFill>
          <a:ln cap="flat" cmpd="sng" w="12700">
            <a:solidFill>
              <a:srgbClr val="C9A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5"/>
          <p:cNvSpPr txBox="1"/>
          <p:nvPr/>
        </p:nvSpPr>
        <p:spPr>
          <a:xfrm>
            <a:off x="4719218" y="2880350"/>
            <a:ext cx="2753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40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02</a:t>
            </a:r>
            <a:endParaRPr/>
          </a:p>
        </p:txBody>
      </p:sp>
      <p:sp>
        <p:nvSpPr>
          <p:cNvPr id="164" name="Google Shape;164;p15"/>
          <p:cNvSpPr txBox="1"/>
          <p:nvPr/>
        </p:nvSpPr>
        <p:spPr>
          <a:xfrm>
            <a:off x="6832396" y="2971790"/>
            <a:ext cx="731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7BC196"/>
                </a:solidFill>
                <a:latin typeface="Arial"/>
                <a:ea typeface="Arial"/>
                <a:cs typeface="Arial"/>
                <a:sym typeface="Arial"/>
              </a:rPr>
              <a:t>LIVE</a:t>
            </a:r>
            <a:endParaRPr/>
          </a:p>
        </p:txBody>
      </p:sp>
      <p:sp>
        <p:nvSpPr>
          <p:cNvPr id="165" name="Google Shape;165;p15"/>
          <p:cNvSpPr txBox="1"/>
          <p:nvPr/>
        </p:nvSpPr>
        <p:spPr>
          <a:xfrm>
            <a:off x="4719218" y="3611870"/>
            <a:ext cx="275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Motion.</a:t>
            </a:r>
            <a:endParaRPr/>
          </a:p>
        </p:txBody>
      </p:sp>
      <p:sp>
        <p:nvSpPr>
          <p:cNvPr id="166" name="Google Shape;166;p15"/>
          <p:cNvSpPr txBox="1"/>
          <p:nvPr/>
        </p:nvSpPr>
        <p:spPr>
          <a:xfrm>
            <a:off x="4719218" y="4069070"/>
            <a:ext cx="2753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IMU · DeviceMotion API</a:t>
            </a:r>
            <a:endParaRPr/>
          </a:p>
        </p:txBody>
      </p:sp>
      <p:sp>
        <p:nvSpPr>
          <p:cNvPr id="167" name="Google Shape;167;p15"/>
          <p:cNvSpPr txBox="1"/>
          <p:nvPr/>
        </p:nvSpPr>
        <p:spPr>
          <a:xfrm>
            <a:off x="4719218" y="4389110"/>
            <a:ext cx="2753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Tremor from 10s stillness. Gait cadence and stride variability from 10-step walk. Standing-up streaks over time.</a:t>
            </a:r>
            <a:endParaRPr/>
          </a:p>
        </p:txBody>
      </p:sp>
      <p:sp>
        <p:nvSpPr>
          <p:cNvPr id="168" name="Google Shape;168;p15"/>
          <p:cNvSpPr txBox="1"/>
          <p:nvPr/>
        </p:nvSpPr>
        <p:spPr>
          <a:xfrm>
            <a:off x="4719218" y="5074910"/>
            <a:ext cx="2753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60 Hz accelerometer · FFT bands</a:t>
            </a:r>
            <a:endParaRPr/>
          </a:p>
        </p:txBody>
      </p:sp>
      <p:sp>
        <p:nvSpPr>
          <p:cNvPr id="169" name="Google Shape;169;p15"/>
          <p:cNvSpPr/>
          <p:nvPr/>
        </p:nvSpPr>
        <p:spPr>
          <a:xfrm>
            <a:off x="8203996" y="2651750"/>
            <a:ext cx="3301800" cy="2743200"/>
          </a:xfrm>
          <a:prstGeom prst="rect">
            <a:avLst/>
          </a:prstGeom>
          <a:solidFill>
            <a:srgbClr val="12131A"/>
          </a:solidFill>
          <a:ln cap="flat" cmpd="sng" w="9525">
            <a:solidFill>
              <a:srgbClr val="8A827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5"/>
          <p:cNvSpPr txBox="1"/>
          <p:nvPr/>
        </p:nvSpPr>
        <p:spPr>
          <a:xfrm>
            <a:off x="8478316" y="2880350"/>
            <a:ext cx="2753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40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03</a:t>
            </a:r>
            <a:endParaRPr/>
          </a:p>
        </p:txBody>
      </p:sp>
      <p:sp>
        <p:nvSpPr>
          <p:cNvPr id="171" name="Google Shape;171;p15"/>
          <p:cNvSpPr txBox="1"/>
          <p:nvPr/>
        </p:nvSpPr>
        <p:spPr>
          <a:xfrm>
            <a:off x="10591494" y="2971790"/>
            <a:ext cx="731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/>
          </a:p>
        </p:txBody>
      </p:sp>
      <p:sp>
        <p:nvSpPr>
          <p:cNvPr id="172" name="Google Shape;172;p15"/>
          <p:cNvSpPr txBox="1"/>
          <p:nvPr/>
        </p:nvSpPr>
        <p:spPr>
          <a:xfrm>
            <a:off x="8478316" y="3611870"/>
            <a:ext cx="275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Heart.</a:t>
            </a:r>
            <a:endParaRPr/>
          </a:p>
        </p:txBody>
      </p:sp>
      <p:sp>
        <p:nvSpPr>
          <p:cNvPr id="173" name="Google Shape;173;p15"/>
          <p:cNvSpPr txBox="1"/>
          <p:nvPr/>
        </p:nvSpPr>
        <p:spPr>
          <a:xfrm>
            <a:off x="8478316" y="4069070"/>
            <a:ext cx="2753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Front camera · rPPG</a:t>
            </a:r>
            <a:endParaRPr/>
          </a:p>
        </p:txBody>
      </p:sp>
      <p:sp>
        <p:nvSpPr>
          <p:cNvPr id="174" name="Google Shape;174;p15"/>
          <p:cNvSpPr txBox="1"/>
          <p:nvPr/>
        </p:nvSpPr>
        <p:spPr>
          <a:xfrm>
            <a:off x="8478316" y="4389110"/>
            <a:ext cx="2753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Resting heart rate and HRV from 30s face video. Sub-pixel colour oscillations, bandpass 0.7 to 4 Hz.</a:t>
            </a:r>
            <a:endParaRPr/>
          </a:p>
        </p:txBody>
      </p:sp>
      <p:sp>
        <p:nvSpPr>
          <p:cNvPr id="175" name="Google Shape;175;p15"/>
          <p:cNvSpPr txBox="1"/>
          <p:nvPr/>
        </p:nvSpPr>
        <p:spPr>
          <a:xfrm>
            <a:off x="8478316" y="5074910"/>
            <a:ext cx="2753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MediaPipe ROI · Q3 2026</a:t>
            </a:r>
            <a:endParaRPr/>
          </a:p>
        </p:txBody>
      </p:sp>
      <p:sp>
        <p:nvSpPr>
          <p:cNvPr id="176" name="Google Shape;176;p15"/>
          <p:cNvSpPr txBox="1"/>
          <p:nvPr/>
        </p:nvSpPr>
        <p:spPr>
          <a:xfrm>
            <a:off x="685875" y="5645698"/>
            <a:ext cx="10820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All processing on-device. </a:t>
            </a:r>
            <a:r>
              <a:rPr lang="en-US" sz="1800">
                <a:solidFill>
                  <a:srgbClr val="E4D9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audio, no video, no GPS leaves the phone.</a:t>
            </a:r>
            <a:endParaRPr/>
          </a:p>
        </p:txBody>
      </p:sp>
      <p:sp>
        <p:nvSpPr>
          <p:cNvPr id="177" name="Google Shape;177;p1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5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Module 01 · Breath ▸ Module 02 · Motion ▸ Module 03 · Heart</a:t>
            </a:r>
            <a:endParaRPr/>
          </a:p>
        </p:txBody>
      </p:sp>
      <p:sp>
        <p:nvSpPr>
          <p:cNvPr id="179" name="Google Shape;179;p15"/>
          <p:cNvSpPr txBox="1"/>
          <p:nvPr/>
        </p:nvSpPr>
        <p:spPr>
          <a:xfrm>
            <a:off x="9677095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03 / 0</a:t>
            </a:r>
            <a:r>
              <a:rPr b="1" lang="en-US" sz="900">
                <a:solidFill>
                  <a:srgbClr val="8A8272"/>
                </a:solidFill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C26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6"/>
          <p:cNvSpPr txBox="1"/>
          <p:nvPr/>
        </p:nvSpPr>
        <p:spPr>
          <a:xfrm>
            <a:off x="685800" y="3200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CASE 04 · LIVE DEMO</a:t>
            </a:r>
            <a:endParaRPr/>
          </a:p>
        </p:txBody>
      </p:sp>
      <p:sp>
        <p:nvSpPr>
          <p:cNvPr id="185" name="Google Shape;185;p16"/>
          <p:cNvSpPr txBox="1"/>
          <p:nvPr/>
        </p:nvSpPr>
        <p:spPr>
          <a:xfrm>
            <a:off x="7848295" y="32004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Resona   </a:t>
            </a:r>
            <a:r>
              <a:rPr b="1" lang="en-US" sz="10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04 / 0</a:t>
            </a:r>
            <a:r>
              <a:rPr b="1" lang="en-US" sz="1000">
                <a:solidFill>
                  <a:srgbClr val="8A8272"/>
                </a:solidFill>
              </a:rPr>
              <a:t>4</a:t>
            </a:r>
            <a:endParaRPr/>
          </a:p>
        </p:txBody>
      </p:sp>
      <p:sp>
        <p:nvSpPr>
          <p:cNvPr id="186" name="Google Shape;186;p16"/>
          <p:cNvSpPr/>
          <p:nvPr/>
        </p:nvSpPr>
        <p:spPr>
          <a:xfrm>
            <a:off x="685800" y="68580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6"/>
          <p:cNvSpPr txBox="1"/>
          <p:nvPr/>
        </p:nvSpPr>
        <p:spPr>
          <a:xfrm>
            <a:off x="685800" y="1188720"/>
            <a:ext cx="6400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D18589"/>
                </a:solidFill>
                <a:latin typeface="Arial"/>
                <a:ea typeface="Arial"/>
                <a:cs typeface="Arial"/>
                <a:sym typeface="Arial"/>
              </a:rPr>
              <a:t>● LIVE </a:t>
            </a:r>
            <a:r>
              <a:rPr b="1" lang="en-US" sz="1100">
                <a:solidFill>
                  <a:srgbClr val="D18589"/>
                </a:solidFill>
              </a:rPr>
              <a:t>DEMO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685800" y="1691640"/>
            <a:ext cx="64008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Scan. Blow. </a:t>
            </a:r>
            <a:r>
              <a:rPr i="1" lang="en-US" sz="50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Fill the bar.</a:t>
            </a:r>
            <a:endParaRPr sz="1200"/>
          </a:p>
        </p:txBody>
      </p:sp>
      <p:sp>
        <p:nvSpPr>
          <p:cNvPr id="189" name="Google Shape;189;p16"/>
          <p:cNvSpPr txBox="1"/>
          <p:nvPr/>
        </p:nvSpPr>
        <p:spPr>
          <a:xfrm>
            <a:off x="685800" y="2551368"/>
            <a:ext cx="640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2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01</a:t>
            </a:r>
            <a:endParaRPr/>
          </a:p>
        </p:txBody>
      </p:sp>
      <p:sp>
        <p:nvSpPr>
          <p:cNvPr id="190" name="Google Shape;190;p16"/>
          <p:cNvSpPr txBox="1"/>
          <p:nvPr/>
        </p:nvSpPr>
        <p:spPr>
          <a:xfrm>
            <a:off x="1508760" y="2624520"/>
            <a:ext cx="5577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Scan the code with your phone camera. You land on an onboarding form.</a:t>
            </a:r>
            <a:endParaRPr/>
          </a:p>
        </p:txBody>
      </p:sp>
      <p:sp>
        <p:nvSpPr>
          <p:cNvPr id="191" name="Google Shape;191;p16"/>
          <p:cNvSpPr txBox="1"/>
          <p:nvPr/>
        </p:nvSpPr>
        <p:spPr>
          <a:xfrm>
            <a:off x="685800" y="3054288"/>
            <a:ext cx="640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2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02</a:t>
            </a:r>
            <a:endParaRPr/>
          </a:p>
        </p:txBody>
      </p:sp>
      <p:sp>
        <p:nvSpPr>
          <p:cNvPr id="192" name="Google Shape;192;p16"/>
          <p:cNvSpPr txBox="1"/>
          <p:nvPr/>
        </p:nvSpPr>
        <p:spPr>
          <a:xfrm>
            <a:off x="1508760" y="3127440"/>
            <a:ext cx="5577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Enter a team code.</a:t>
            </a:r>
            <a:endParaRPr/>
          </a:p>
        </p:txBody>
      </p:sp>
      <p:sp>
        <p:nvSpPr>
          <p:cNvPr id="193" name="Google Shape;193;p16"/>
          <p:cNvSpPr txBox="1"/>
          <p:nvPr/>
        </p:nvSpPr>
        <p:spPr>
          <a:xfrm>
            <a:off x="685800" y="3557207"/>
            <a:ext cx="640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2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03</a:t>
            </a:r>
            <a:endParaRPr/>
          </a:p>
        </p:txBody>
      </p:sp>
      <p:sp>
        <p:nvSpPr>
          <p:cNvPr id="194" name="Google Shape;194;p16"/>
          <p:cNvSpPr txBox="1"/>
          <p:nvPr/>
        </p:nvSpPr>
        <p:spPr>
          <a:xfrm>
            <a:off x="1508760" y="3630360"/>
            <a:ext cx="5577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Blow into the bottom of your phone for six seconds.</a:t>
            </a:r>
            <a:endParaRPr/>
          </a:p>
        </p:txBody>
      </p:sp>
      <p:sp>
        <p:nvSpPr>
          <p:cNvPr id="195" name="Google Shape;195;p16"/>
          <p:cNvSpPr txBox="1"/>
          <p:nvPr/>
        </p:nvSpPr>
        <p:spPr>
          <a:xfrm>
            <a:off x="685800" y="4060128"/>
            <a:ext cx="640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2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04</a:t>
            </a:r>
            <a:endParaRPr/>
          </a:p>
        </p:txBody>
      </p:sp>
      <p:sp>
        <p:nvSpPr>
          <p:cNvPr id="196" name="Google Shape;196;p16"/>
          <p:cNvSpPr txBox="1"/>
          <p:nvPr/>
        </p:nvSpPr>
        <p:spPr>
          <a:xfrm>
            <a:off x="1508760" y="4133280"/>
            <a:ext cx="5577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See your analysis, your numbers, and your team on the board.</a:t>
            </a:r>
            <a:endParaRPr/>
          </a:p>
        </p:txBody>
      </p:sp>
      <p:sp>
        <p:nvSpPr>
          <p:cNvPr id="197" name="Google Shape;197;p16"/>
          <p:cNvSpPr/>
          <p:nvPr/>
        </p:nvSpPr>
        <p:spPr>
          <a:xfrm>
            <a:off x="685800" y="5382425"/>
            <a:ext cx="6400800" cy="502800"/>
          </a:xfrm>
          <a:prstGeom prst="rect">
            <a:avLst/>
          </a:prstGeom>
          <a:solidFill>
            <a:srgbClr val="12131A"/>
          </a:solidFill>
          <a:ln cap="flat" cmpd="sng" w="12700">
            <a:solidFill>
              <a:srgbClr val="C9A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6"/>
          <p:cNvSpPr txBox="1"/>
          <p:nvPr/>
        </p:nvSpPr>
        <p:spPr>
          <a:xfrm>
            <a:off x="856745" y="5450940"/>
            <a:ext cx="58521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00">
                <a:solidFill>
                  <a:srgbClr val="E6C6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Fill the bar together. Top team takes the board.</a:t>
            </a:r>
            <a:endParaRPr/>
          </a:p>
        </p:txBody>
      </p:sp>
      <p:sp>
        <p:nvSpPr>
          <p:cNvPr id="199" name="Google Shape;199;p16"/>
          <p:cNvSpPr/>
          <p:nvPr/>
        </p:nvSpPr>
        <p:spPr>
          <a:xfrm>
            <a:off x="7253935" y="1325880"/>
            <a:ext cx="4480560" cy="4480560"/>
          </a:xfrm>
          <a:prstGeom prst="rect">
            <a:avLst/>
          </a:prstGeom>
          <a:solidFill>
            <a:srgbClr val="F4EC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00" name="Google Shape;20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82535" y="1554480"/>
            <a:ext cx="4023360" cy="402336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6"/>
          <p:cNvSpPr txBox="1"/>
          <p:nvPr/>
        </p:nvSpPr>
        <p:spPr>
          <a:xfrm>
            <a:off x="7253935" y="5852160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mocha-cleat-chastity.ngrok-free.dev</a:t>
            </a:r>
            <a:endParaRPr/>
          </a:p>
        </p:txBody>
      </p:sp>
      <p:sp>
        <p:nvSpPr>
          <p:cNvPr id="202" name="Google Shape;202;p16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6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GP letter written live by GLM 5.1 · no audio leaves your phone</a:t>
            </a:r>
            <a:endParaRPr/>
          </a:p>
        </p:txBody>
      </p:sp>
      <p:sp>
        <p:nvSpPr>
          <p:cNvPr id="204" name="Google Shape;204;p16"/>
          <p:cNvSpPr txBox="1"/>
          <p:nvPr/>
        </p:nvSpPr>
        <p:spPr>
          <a:xfrm>
            <a:off x="9677095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04 / 0</a:t>
            </a:r>
            <a:r>
              <a:rPr b="1" lang="en-US" sz="900">
                <a:solidFill>
                  <a:srgbClr val="8A8272"/>
                </a:solidFill>
              </a:rPr>
              <a:t>4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